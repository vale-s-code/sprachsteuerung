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8" r:id="rId2"/>
    <p:sldId id="256" r:id="rId3"/>
    <p:sldId id="313" r:id="rId4"/>
    <p:sldId id="307" r:id="rId5"/>
    <p:sldId id="295" r:id="rId6"/>
    <p:sldId id="305" r:id="rId7"/>
    <p:sldId id="306" r:id="rId8"/>
    <p:sldId id="312" r:id="rId9"/>
    <p:sldId id="310" r:id="rId10"/>
    <p:sldId id="309" r:id="rId11"/>
    <p:sldId id="311" r:id="rId12"/>
    <p:sldId id="308" r:id="rId13"/>
    <p:sldId id="314" r:id="rId14"/>
    <p:sldId id="282" r:id="rId15"/>
  </p:sldIdLst>
  <p:sldSz cx="9144000" cy="5143500" type="screen16x9"/>
  <p:notesSz cx="10693400" cy="756285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357188" indent="10001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714375" indent="2000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073150" indent="29845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430338" indent="3984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428">
          <p15:clr>
            <a:srgbClr val="A4A3A4"/>
          </p15:clr>
        </p15:guide>
        <p15:guide id="2" orient="horz" pos="3012">
          <p15:clr>
            <a:srgbClr val="A4A3A4"/>
          </p15:clr>
        </p15:guide>
        <p15:guide id="3" orient="horz" pos="3108">
          <p15:clr>
            <a:srgbClr val="A4A3A4"/>
          </p15:clr>
        </p15:guide>
        <p15:guide id="4" orient="horz" pos="2532">
          <p15:clr>
            <a:srgbClr val="A4A3A4"/>
          </p15:clr>
        </p15:guide>
        <p15:guide id="5" orient="horz" pos="372">
          <p15:clr>
            <a:srgbClr val="A4A3A4"/>
          </p15:clr>
        </p15:guide>
        <p15:guide id="6" orient="horz" pos="2100">
          <p15:clr>
            <a:srgbClr val="A4A3A4"/>
          </p15:clr>
        </p15:guide>
        <p15:guide id="7" orient="horz" pos="1860">
          <p15:clr>
            <a:srgbClr val="A4A3A4"/>
          </p15:clr>
        </p15:guide>
        <p15:guide id="8" orient="horz" pos="2004">
          <p15:clr>
            <a:srgbClr val="A4A3A4"/>
          </p15:clr>
        </p15:guide>
        <p15:guide id="9" pos="3868">
          <p15:clr>
            <a:srgbClr val="A4A3A4"/>
          </p15:clr>
        </p15:guide>
        <p15:guide id="10" pos="5568">
          <p15:clr>
            <a:srgbClr val="A4A3A4"/>
          </p15:clr>
        </p15:guide>
        <p15:guide id="11" pos="2215">
          <p15:clr>
            <a:srgbClr val="A4A3A4"/>
          </p15:clr>
        </p15:guide>
        <p15:guide id="12" pos="55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a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4710" autoAdjust="0"/>
  </p:normalViewPr>
  <p:slideViewPr>
    <p:cSldViewPr>
      <p:cViewPr varScale="1">
        <p:scale>
          <a:sx n="199" d="100"/>
          <a:sy n="199" d="100"/>
        </p:scale>
        <p:origin x="684" y="150"/>
      </p:cViewPr>
      <p:guideLst>
        <p:guide orient="horz" pos="1428"/>
        <p:guide orient="horz" pos="3012"/>
        <p:guide orient="horz" pos="3108"/>
        <p:guide orient="horz" pos="2532"/>
        <p:guide orient="horz" pos="372"/>
        <p:guide orient="horz" pos="2100"/>
        <p:guide orient="horz" pos="1860"/>
        <p:guide orient="horz" pos="2004"/>
        <p:guide pos="3868"/>
        <p:guide pos="5568"/>
        <p:guide pos="2215"/>
        <p:guide pos="5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8E4E7A2-6878-4793-A7F0-F61DDD99353F}" type="datetimeFigureOut">
              <a:rPr lang="de-DE"/>
              <a:pPr>
                <a:defRPr/>
              </a:pPr>
              <a:t>19.03.2026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82C5AE6-9F30-4CC0-B69A-96DFA5D4EE42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188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437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15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0338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9024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828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633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438" algn="l" defTabSz="715609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97394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EA2E-D550-5469-B3C1-2C29BAAB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768655-FF5A-E51F-FBD1-F2234629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67F79B-CF81-FBD7-6B93-6E4AFBB4D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B327A2-75B3-9648-0C56-07A7B6D48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92620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40B8-182C-B373-6526-B03F9DE3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0E2AB3F-E85D-6724-BFC6-4224F6C91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35F956-9C13-5A24-073A-BC1E0ACF1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578A44-5A8F-C6BA-2ECE-0C0C313FD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51994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42051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A33B-45D2-93CC-F604-9FC89182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3C5ECE-69FE-D4C8-3840-5C3A7F736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A69AB13-5586-17A5-9272-02BB670B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63FFDD-7FC2-2546-9D33-75AA6DD8E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26982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01E1-A230-E4DC-125C-75B8BBFF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8C3B10-0300-646D-177E-5CCA4BF0F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4EC78C-17C4-2548-49E8-52FE93FC3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848687-D8A6-DF4D-B958-D107BEFBF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1014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1079C-834A-8E59-DF83-8DE50917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55D061-BE58-A4EB-45CA-7839AB389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EB7C34-E1A2-D924-FC03-695845BA2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8FB3A8-3B8F-0B7E-167D-3233E69B6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8549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2FD6-DEC1-3663-9123-CFD2A0B6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8805A9-9879-C4D8-00FC-982766AA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0F6FA4C-9B17-BE3E-ECD2-48D9C6FD5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E7B0C8-DA8C-631E-C57D-CD5D31D52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97650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79E3-9755-8703-A1A3-C3CF9FA0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62D8A6-3783-7CB2-EBB6-CB02EA487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D7287A-CA30-4853-0294-02BADA933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85B699-D725-26C4-C19F-675F3B3F8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74298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CC644-660B-78F5-A145-6A88F323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2E30B4-D2A3-3220-A43F-F08B3F3F0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FA62F6-6597-8809-40E7-8AFB25C01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49B79B-7D47-F6F0-75D1-83F706C4D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88355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82FB-3C5A-738E-869E-3D8B5A36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EE1214D-AC63-3E10-B1D2-B49007017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7E9A4E-5203-61D9-3168-C715AB2DD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B98613-996A-9C4E-EA75-27C0FC99E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12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83836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3600-DF6E-CA27-3F4C-49B25255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1BF9B4F-35A8-0691-2590-DA39AD3F7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EABE1C-DE67-369C-B678-71C3F437D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2B2B73-6F93-8937-62F4-8486382D9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5AE6-9F30-4CC0-B69A-96DFA5D4EE42}" type="slidenum">
              <a:rPr lang="de-DE" altLang="de-DE" smtClean="0"/>
              <a:pPr/>
              <a:t>13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4628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>
            <a:spLocks/>
          </p:cNvSpPr>
          <p:nvPr userDrawn="1"/>
        </p:nvSpPr>
        <p:spPr bwMode="auto">
          <a:xfrm>
            <a:off x="0" y="463550"/>
            <a:ext cx="8909050" cy="0"/>
          </a:xfrm>
          <a:custGeom>
            <a:avLst/>
            <a:gdLst>
              <a:gd name="T0" fmla="*/ 0 w 10419080"/>
              <a:gd name="T1" fmla="*/ 7617538 w 1041908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419080">
                <a:moveTo>
                  <a:pt x="0" y="0"/>
                </a:moveTo>
                <a:lnTo>
                  <a:pt x="10418506" y="0"/>
                </a:lnTo>
              </a:path>
            </a:pathLst>
          </a:custGeom>
          <a:noFill/>
          <a:ln w="15240" cap="rnd">
            <a:solidFill>
              <a:srgbClr val="FF6A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pic>
        <p:nvPicPr>
          <p:cNvPr id="8" name="Grafik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63500"/>
            <a:ext cx="1017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5800" y="694483"/>
            <a:ext cx="6574558" cy="504486"/>
          </a:xfrm>
          <a:prstGeom prst="rect">
            <a:avLst/>
          </a:prstGeom>
        </p:spPr>
        <p:txBody>
          <a:bodyPr tIns="11927" rtlCol="0"/>
          <a:lstStyle>
            <a:lvl1pPr algn="l">
              <a:defRPr sz="3200" b="1" i="0" baseline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7" name="Bildplatzhalter 16"/>
          <p:cNvSpPr>
            <a:spLocks noGrp="1"/>
          </p:cNvSpPr>
          <p:nvPr>
            <p:ph type="pic" sz="quarter" idx="10"/>
          </p:nvPr>
        </p:nvSpPr>
        <p:spPr>
          <a:xfrm>
            <a:off x="0" y="2565773"/>
            <a:ext cx="2980639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18" name="Bildplatzhalter 16"/>
          <p:cNvSpPr>
            <a:spLocks noGrp="1"/>
          </p:cNvSpPr>
          <p:nvPr>
            <p:ph type="pic" sz="quarter" idx="11"/>
          </p:nvPr>
        </p:nvSpPr>
        <p:spPr>
          <a:xfrm>
            <a:off x="3090021" y="2565773"/>
            <a:ext cx="2980639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19" name="Bildplatzhalter 16"/>
          <p:cNvSpPr>
            <a:spLocks noGrp="1"/>
          </p:cNvSpPr>
          <p:nvPr>
            <p:ph type="pic" sz="quarter" idx="12"/>
          </p:nvPr>
        </p:nvSpPr>
        <p:spPr>
          <a:xfrm>
            <a:off x="6163361" y="2565773"/>
            <a:ext cx="2980639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690515" y="1590340"/>
            <a:ext cx="6023148" cy="276999"/>
          </a:xfrm>
        </p:spPr>
        <p:txBody>
          <a:bodyPr/>
          <a:lstStyle>
            <a:lvl1pPr>
              <a:defRPr sz="18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800">
                <a:latin typeface="Roboto" pitchFamily="2" charset="0"/>
                <a:ea typeface="Roboto" pitchFamily="2" charset="0"/>
              </a:defRPr>
            </a:lvl2pPr>
            <a:lvl3pPr>
              <a:defRPr sz="1800">
                <a:latin typeface="Roboto" pitchFamily="2" charset="0"/>
                <a:ea typeface="Roboto" pitchFamily="2" charset="0"/>
              </a:defRPr>
            </a:lvl3pPr>
            <a:lvl4pPr>
              <a:defRPr sz="1800">
                <a:latin typeface="Roboto" pitchFamily="2" charset="0"/>
                <a:ea typeface="Roboto" pitchFamily="2" charset="0"/>
              </a:defRPr>
            </a:lvl4pPr>
            <a:lvl5pPr>
              <a:defRPr sz="1800">
                <a:latin typeface="Roboto" pitchFamily="2" charset="0"/>
                <a:ea typeface="Roboto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2416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6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7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8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9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7817417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5810024" y="1068863"/>
            <a:ext cx="3333976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13" name="Inhaltsplatzhalter 8"/>
          <p:cNvSpPr>
            <a:spLocks noGrp="1"/>
          </p:cNvSpPr>
          <p:nvPr>
            <p:ph sz="quarter" idx="12"/>
          </p:nvPr>
        </p:nvSpPr>
        <p:spPr>
          <a:xfrm>
            <a:off x="762001" y="1068863"/>
            <a:ext cx="4800600" cy="1540385"/>
          </a:xfrm>
          <a:ln w="15875" cap="rnd">
            <a:solidFill>
              <a:srgbClr val="FF6A00"/>
            </a:solidFill>
            <a:prstDash val="sysDot"/>
          </a:ln>
        </p:spPr>
        <p:txBody>
          <a:bodyPr lIns="144000" tIns="144000" rIns="144000" bIns="144000"/>
          <a:lstStyle>
            <a:lvl1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2pPr>
            <a:lvl3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3pPr>
            <a:lvl4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4pPr>
            <a:lvl5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Holder 6"/>
          <p:cNvSpPr>
            <a:spLocks noGrp="1"/>
          </p:cNvSpPr>
          <p:nvPr>
            <p:ph type="sldNum" sz="quarter" idx="13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E62CF96B-4B91-48A3-88F3-9DAE7A08ADC0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046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5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6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7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8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7817417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3" name="Inhaltsplatzhalter 8"/>
          <p:cNvSpPr>
            <a:spLocks noGrp="1"/>
          </p:cNvSpPr>
          <p:nvPr>
            <p:ph sz="quarter" idx="12"/>
          </p:nvPr>
        </p:nvSpPr>
        <p:spPr>
          <a:xfrm>
            <a:off x="762001" y="1068863"/>
            <a:ext cx="7654924" cy="1540385"/>
          </a:xfrm>
          <a:ln w="12700" cap="rnd">
            <a:noFill/>
            <a:prstDash val="sysDot"/>
          </a:ln>
        </p:spPr>
        <p:txBody>
          <a:bodyPr lIns="144000" tIns="144000" rIns="144000" bIns="144000"/>
          <a:lstStyle>
            <a:lvl1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2pPr>
            <a:lvl3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3pPr>
            <a:lvl4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4pPr>
            <a:lvl5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Holder 6"/>
          <p:cNvSpPr>
            <a:spLocks noGrp="1"/>
          </p:cNvSpPr>
          <p:nvPr>
            <p:ph type="sldNum" sz="quarter" idx="13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5ECC29AC-ECA7-40EE-B746-5DC76AD0DB3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6371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7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8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9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10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7817417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11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5810024" y="1068863"/>
            <a:ext cx="3333976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13" name="Bildplatzhalter 18"/>
          <p:cNvSpPr>
            <a:spLocks noGrp="1"/>
          </p:cNvSpPr>
          <p:nvPr>
            <p:ph type="pic" sz="quarter" idx="11"/>
          </p:nvPr>
        </p:nvSpPr>
        <p:spPr>
          <a:xfrm>
            <a:off x="5810024" y="2668506"/>
            <a:ext cx="3333976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23" name="Inhaltsplatzhalter 8"/>
          <p:cNvSpPr>
            <a:spLocks noGrp="1"/>
          </p:cNvSpPr>
          <p:nvPr>
            <p:ph sz="quarter" idx="13"/>
          </p:nvPr>
        </p:nvSpPr>
        <p:spPr>
          <a:xfrm>
            <a:off x="762001" y="1068863"/>
            <a:ext cx="4800600" cy="1540385"/>
          </a:xfrm>
          <a:ln w="15875" cap="rnd">
            <a:solidFill>
              <a:srgbClr val="FF6A00"/>
            </a:solidFill>
            <a:prstDash val="sysDot"/>
          </a:ln>
        </p:spPr>
        <p:txBody>
          <a:bodyPr lIns="144000" tIns="144000" rIns="144000" bIns="144000"/>
          <a:lstStyle>
            <a:lvl1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2pPr>
            <a:lvl3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3pPr>
            <a:lvl4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4pPr>
            <a:lvl5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14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68372081-DAA7-4558-BFF5-AEBC6FA9FE3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3961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6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7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8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9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7817417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10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0" y="581649"/>
            <a:ext cx="9144000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22" name="Inhaltsplatzhalter 8"/>
          <p:cNvSpPr>
            <a:spLocks noGrp="1"/>
          </p:cNvSpPr>
          <p:nvPr>
            <p:ph sz="quarter" idx="13"/>
          </p:nvPr>
        </p:nvSpPr>
        <p:spPr>
          <a:xfrm>
            <a:off x="762000" y="2495549"/>
            <a:ext cx="6934199" cy="1540385"/>
          </a:xfrm>
          <a:ln w="15875" cap="rnd">
            <a:solidFill>
              <a:srgbClr val="ED6E00"/>
            </a:solidFill>
            <a:prstDash val="sysDot"/>
          </a:ln>
        </p:spPr>
        <p:txBody>
          <a:bodyPr lIns="144000" tIns="144000" rIns="144000" bIns="144000"/>
          <a:lstStyle>
            <a:lvl1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2pPr>
            <a:lvl3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3pPr>
            <a:lvl4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4pPr>
            <a:lvl5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1" name="Holder 6"/>
          <p:cNvSpPr>
            <a:spLocks noGrp="1"/>
          </p:cNvSpPr>
          <p:nvPr>
            <p:ph type="sldNum" sz="quarter" idx="14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BF425F20-1553-4E2A-82BD-1A0D1C57D7D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4599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ichwört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8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9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10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11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7817417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8200" y="2172889"/>
            <a:ext cx="1998027" cy="215444"/>
          </a:xfrm>
          <a:ln w="15875" cap="rnd">
            <a:solidFill>
              <a:srgbClr val="FF6A00"/>
            </a:solidFill>
            <a:prstDash val="sysDot"/>
          </a:ln>
        </p:spPr>
        <p:txBody>
          <a:bodyPr anchor="ctr"/>
          <a:lstStyle>
            <a:lvl1pPr algn="ctr">
              <a:defRPr sz="1400" b="1" i="0" kern="1200" spc="35" dirty="0">
                <a:solidFill>
                  <a:srgbClr val="878786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3657600" y="1068862"/>
            <a:ext cx="5486400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20" name="Holder 3"/>
          <p:cNvSpPr>
            <a:spLocks noGrp="1"/>
          </p:cNvSpPr>
          <p:nvPr>
            <p:ph type="body" idx="13"/>
          </p:nvPr>
        </p:nvSpPr>
        <p:spPr>
          <a:xfrm>
            <a:off x="838200" y="1252824"/>
            <a:ext cx="1998027" cy="215444"/>
          </a:xfrm>
          <a:ln w="15875" cap="rnd">
            <a:solidFill>
              <a:srgbClr val="FF6A00"/>
            </a:solidFill>
            <a:prstDash val="sysDot"/>
          </a:ln>
        </p:spPr>
        <p:txBody>
          <a:bodyPr anchor="ctr"/>
          <a:lstStyle>
            <a:lvl1pPr algn="ctr">
              <a:defRPr sz="1400" b="1" i="0" kern="1200" spc="35" dirty="0">
                <a:solidFill>
                  <a:srgbClr val="878786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Holder 3"/>
          <p:cNvSpPr>
            <a:spLocks noGrp="1"/>
          </p:cNvSpPr>
          <p:nvPr>
            <p:ph type="body" idx="14"/>
          </p:nvPr>
        </p:nvSpPr>
        <p:spPr>
          <a:xfrm>
            <a:off x="838200" y="3092954"/>
            <a:ext cx="1998027" cy="215444"/>
          </a:xfrm>
          <a:ln w="15875" cap="rnd">
            <a:solidFill>
              <a:srgbClr val="FF6A00"/>
            </a:solidFill>
            <a:prstDash val="sysDot"/>
          </a:ln>
        </p:spPr>
        <p:txBody>
          <a:bodyPr anchor="ctr"/>
          <a:lstStyle>
            <a:lvl1pPr algn="ctr">
              <a:defRPr sz="1400" b="1" i="0" kern="1200" spc="35" dirty="0">
                <a:solidFill>
                  <a:srgbClr val="878786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15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79943ECC-AAD0-4FF3-9A30-AC7352A09AA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974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/ 2 Ob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6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7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8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7817417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9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35" name="Inhaltsplatzhalter 8"/>
          <p:cNvSpPr>
            <a:spLocks noGrp="1"/>
          </p:cNvSpPr>
          <p:nvPr>
            <p:ph sz="quarter" idx="11"/>
          </p:nvPr>
        </p:nvSpPr>
        <p:spPr>
          <a:xfrm>
            <a:off x="4191000" y="1358980"/>
            <a:ext cx="3308347" cy="1540385"/>
          </a:xfrm>
          <a:ln w="15875" cap="rnd">
            <a:solidFill>
              <a:srgbClr val="FF6A00"/>
            </a:solidFill>
            <a:prstDash val="sysDot"/>
          </a:ln>
        </p:spPr>
        <p:txBody>
          <a:bodyPr lIns="144000" tIns="144000" rIns="144000" bIns="144000"/>
          <a:lstStyle>
            <a:lvl1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2pPr>
            <a:lvl3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3pPr>
            <a:lvl4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4pPr>
            <a:lvl5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Inhaltsplatzhalter 8"/>
          <p:cNvSpPr>
            <a:spLocks noGrp="1"/>
          </p:cNvSpPr>
          <p:nvPr>
            <p:ph sz="quarter" idx="13"/>
          </p:nvPr>
        </p:nvSpPr>
        <p:spPr>
          <a:xfrm>
            <a:off x="730253" y="1358980"/>
            <a:ext cx="3308347" cy="1540385"/>
          </a:xfrm>
          <a:ln w="15875" cap="rnd">
            <a:solidFill>
              <a:srgbClr val="FF6A00"/>
            </a:solidFill>
            <a:prstDash val="sysDot"/>
          </a:ln>
        </p:spPr>
        <p:txBody>
          <a:bodyPr lIns="144000" tIns="144000" rIns="144000" bIns="144000"/>
          <a:lstStyle>
            <a:lvl1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2pPr>
            <a:lvl3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3pPr>
            <a:lvl4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4pPr>
            <a:lvl5pPr>
              <a:defRPr sz="1400" b="0" i="0">
                <a:latin typeface="Inter Light" panose="02000503000000020004" pitchFamily="2" charset="0"/>
                <a:ea typeface="Inter Light" panose="02000503000000020004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0" name="Holder 6"/>
          <p:cNvSpPr>
            <a:spLocks noGrp="1"/>
          </p:cNvSpPr>
          <p:nvPr>
            <p:ph type="sldNum" sz="quarter" idx="14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B46DB477-B7F8-4448-9A1D-A1E98E2F97B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7565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+ 2 Ob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1"/>
          <p:cNvGrpSpPr>
            <a:grpSpLocks/>
          </p:cNvGrpSpPr>
          <p:nvPr userDrawn="1"/>
        </p:nvGrpSpPr>
        <p:grpSpPr bwMode="auto">
          <a:xfrm>
            <a:off x="0" y="361950"/>
            <a:ext cx="9144000" cy="106363"/>
            <a:chOff x="0" y="361949"/>
            <a:chExt cx="9144000" cy="106683"/>
          </a:xfrm>
        </p:grpSpPr>
        <p:sp>
          <p:nvSpPr>
            <p:cNvPr id="8" name="object 2"/>
            <p:cNvSpPr>
              <a:spLocks/>
            </p:cNvSpPr>
            <p:nvPr userDrawn="1"/>
          </p:nvSpPr>
          <p:spPr bwMode="auto">
            <a:xfrm>
              <a:off x="0" y="361949"/>
              <a:ext cx="533400" cy="45719"/>
            </a:xfrm>
            <a:custGeom>
              <a:avLst/>
              <a:gdLst>
                <a:gd name="T0" fmla="*/ 0 w 10419080"/>
                <a:gd name="T1" fmla="*/ 0 h 45719"/>
                <a:gd name="T2" fmla="*/ 456075 w 1041908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45719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  <p:sp>
          <p:nvSpPr>
            <p:cNvPr id="9" name="object 2"/>
            <p:cNvSpPr>
              <a:spLocks/>
            </p:cNvSpPr>
            <p:nvPr userDrawn="1"/>
          </p:nvSpPr>
          <p:spPr bwMode="auto">
            <a:xfrm>
              <a:off x="6248400" y="361950"/>
              <a:ext cx="2895600" cy="106682"/>
            </a:xfrm>
            <a:custGeom>
              <a:avLst/>
              <a:gdLst>
                <a:gd name="T0" fmla="*/ 0 w 10419080"/>
                <a:gd name="T1" fmla="*/ 0 h 106682"/>
                <a:gd name="T2" fmla="*/ 2475836 w 10419080"/>
                <a:gd name="T3" fmla="*/ 0 h 1066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419080" h="106682">
                  <a:moveTo>
                    <a:pt x="0" y="0"/>
                  </a:moveTo>
                  <a:lnTo>
                    <a:pt x="10418506" y="0"/>
                  </a:lnTo>
                </a:path>
              </a:pathLst>
            </a:custGeom>
            <a:noFill/>
            <a:ln w="15240" cap="rnd">
              <a:solidFill>
                <a:srgbClr val="ED6E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de-DE"/>
            </a:p>
          </p:txBody>
        </p:sp>
      </p:grpSp>
      <p:sp>
        <p:nvSpPr>
          <p:cNvPr id="12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13" name="object 8"/>
          <p:cNvSpPr>
            <a:spLocks/>
          </p:cNvSpPr>
          <p:nvPr userDrawn="1"/>
        </p:nvSpPr>
        <p:spPr bwMode="auto">
          <a:xfrm>
            <a:off x="0" y="4606925"/>
            <a:ext cx="9142413" cy="0"/>
          </a:xfrm>
          <a:custGeom>
            <a:avLst/>
            <a:gdLst>
              <a:gd name="T0" fmla="*/ 0 w 10692129"/>
              <a:gd name="T1" fmla="*/ 9142535 w 1069212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692129">
                <a:moveTo>
                  <a:pt x="0" y="0"/>
                </a:moveTo>
                <a:lnTo>
                  <a:pt x="10692003" y="0"/>
                </a:lnTo>
              </a:path>
            </a:pathLst>
          </a:custGeom>
          <a:noFill/>
          <a:ln w="15875" cap="rnd">
            <a:solidFill>
              <a:srgbClr val="ED6E00"/>
            </a:solidFill>
            <a:prstDash val="sysDot"/>
            <a:round/>
            <a:headEnd/>
            <a:tailEnd/>
          </a:ln>
        </p:spPr>
        <p:txBody>
          <a:bodyPr lIns="0" tIns="0" rIns="0" bIns="0"/>
          <a:lstStyle/>
          <a:p>
            <a:pPr eaLnBrk="1" hangingPunct="1">
              <a:defRPr/>
            </a:pPr>
            <a:endParaRPr lang="de-DE">
              <a:ln w="12700">
                <a:solidFill>
                  <a:schemeClr val="tx1"/>
                </a:solidFill>
                <a:prstDash val="sysDot"/>
              </a:ln>
              <a:cs typeface="Arial" charset="0"/>
            </a:endParaRPr>
          </a:p>
        </p:txBody>
      </p:sp>
      <p:sp>
        <p:nvSpPr>
          <p:cNvPr id="14" name="object 19"/>
          <p:cNvSpPr txBox="1"/>
          <p:nvPr userDrawn="1"/>
        </p:nvSpPr>
        <p:spPr>
          <a:xfrm>
            <a:off x="1419225" y="4743450"/>
            <a:ext cx="84138" cy="98425"/>
          </a:xfrm>
          <a:prstGeom prst="rect">
            <a:avLst/>
          </a:prstGeom>
        </p:spPr>
        <p:txBody>
          <a:bodyPr lIns="0" tIns="3976" rIns="0" bIns="0">
            <a:spAutoFit/>
          </a:bodyPr>
          <a:lstStyle/>
          <a:p>
            <a:pPr marL="9939" eaLnBrk="1" fontAlgn="auto" hangingPunct="1">
              <a:spcBef>
                <a:spcPts val="31"/>
              </a:spcBef>
              <a:spcAft>
                <a:spcPts val="0"/>
              </a:spcAft>
              <a:defRPr/>
            </a:pPr>
            <a:r>
              <a:rPr sz="600" u="heavy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r>
              <a:rPr sz="600" u="heavy" spc="-16" dirty="0">
                <a:solidFill>
                  <a:srgbClr val="231F20"/>
                </a:solidFill>
                <a:uFill>
                  <a:solidFill>
                    <a:srgbClr val="F78E1E"/>
                  </a:solidFill>
                </a:uFill>
                <a:latin typeface="Inter Light" panose="02000503000000020004" pitchFamily="2" charset="0"/>
                <a:cs typeface="Roboto"/>
              </a:rPr>
              <a:t> </a:t>
            </a:r>
            <a:endParaRPr sz="600" dirty="0">
              <a:latin typeface="Inter Light" panose="02000503000000020004" pitchFamily="2" charset="0"/>
              <a:cs typeface="Roboto"/>
            </a:endParaRPr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646663" y="598488"/>
            <a:ext cx="4498696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0"/>
          </p:nvPr>
        </p:nvSpPr>
        <p:spPr>
          <a:xfrm>
            <a:off x="0" y="598488"/>
            <a:ext cx="4497339" cy="276999"/>
          </a:xfrm>
        </p:spPr>
        <p:txBody>
          <a:bodyPr/>
          <a:lstStyle>
            <a:lvl1pPr>
              <a:defRPr b="0" i="0"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pPr lvl="0"/>
            <a:endParaRPr lang="de-DE" noProof="0" dirty="0"/>
          </a:p>
        </p:txBody>
      </p:sp>
      <p:sp>
        <p:nvSpPr>
          <p:cNvPr id="10" name="Holder 3"/>
          <p:cNvSpPr>
            <a:spLocks noGrp="1"/>
          </p:cNvSpPr>
          <p:nvPr>
            <p:ph sz="half" idx="2"/>
          </p:nvPr>
        </p:nvSpPr>
        <p:spPr>
          <a:xfrm>
            <a:off x="1574679" y="2383150"/>
            <a:ext cx="3268834" cy="276999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endParaRPr dirty="0"/>
          </a:p>
        </p:txBody>
      </p:sp>
      <p:sp>
        <p:nvSpPr>
          <p:cNvPr id="11" name="Holder 4"/>
          <p:cNvSpPr>
            <a:spLocks noGrp="1"/>
          </p:cNvSpPr>
          <p:nvPr>
            <p:ph sz="half" idx="3"/>
          </p:nvPr>
        </p:nvSpPr>
        <p:spPr>
          <a:xfrm>
            <a:off x="4953000" y="2383150"/>
            <a:ext cx="3266781" cy="276999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endParaRPr dirty="0"/>
          </a:p>
        </p:txBody>
      </p:sp>
      <p:sp>
        <p:nvSpPr>
          <p:cNvPr id="17" name="Holder 2"/>
          <p:cNvSpPr>
            <a:spLocks noGrp="1"/>
          </p:cNvSpPr>
          <p:nvPr>
            <p:ph type="title"/>
          </p:nvPr>
        </p:nvSpPr>
        <p:spPr>
          <a:xfrm>
            <a:off x="762000" y="97598"/>
            <a:ext cx="5994641" cy="477054"/>
          </a:xfrm>
          <a:solidFill>
            <a:schemeClr val="bg1"/>
          </a:solidFill>
        </p:spPr>
        <p:txBody>
          <a:bodyPr/>
          <a:lstStyle>
            <a:lvl1pPr algn="l">
              <a:defRPr sz="3100" b="1" i="0">
                <a:solidFill>
                  <a:srgbClr val="FF6A00"/>
                </a:solidFill>
                <a:latin typeface="Inter" panose="02000503000000020004" pitchFamily="2" charset="0"/>
                <a:ea typeface="Inter" panose="02000503000000020004" pitchFamily="2" charset="0"/>
                <a:cs typeface="Roboto Medium" panose="020000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15" name="Holder 6"/>
          <p:cNvSpPr>
            <a:spLocks noGrp="1"/>
          </p:cNvSpPr>
          <p:nvPr>
            <p:ph type="sldNum" sz="quarter" idx="12"/>
          </p:nvPr>
        </p:nvSpPr>
        <p:spPr>
          <a:xfrm>
            <a:off x="8416925" y="4748213"/>
            <a:ext cx="400050" cy="169862"/>
          </a:xfrm>
        </p:spPr>
        <p:txBody>
          <a:bodyPr/>
          <a:lstStyle>
            <a:lvl1pPr>
              <a:defRPr/>
            </a:lvl1pPr>
          </a:lstStyle>
          <a:p>
            <a:fld id="{368E370F-89E2-41F8-B783-7EAF4C067FD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9493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anzsei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>
            <a:spLocks/>
          </p:cNvSpPr>
          <p:nvPr userDrawn="1"/>
        </p:nvSpPr>
        <p:spPr bwMode="auto">
          <a:xfrm>
            <a:off x="4733925" y="0"/>
            <a:ext cx="2916238" cy="2325688"/>
          </a:xfrm>
          <a:custGeom>
            <a:avLst/>
            <a:gdLst>
              <a:gd name="T0" fmla="*/ 281308 w 2916554"/>
              <a:gd name="T1" fmla="*/ 17815 h 2325370"/>
              <a:gd name="T2" fmla="*/ 206715 w 2916554"/>
              <a:gd name="T3" fmla="*/ 129508 h 2325370"/>
              <a:gd name="T4" fmla="*/ 142548 w 2916554"/>
              <a:gd name="T5" fmla="*/ 248132 h 2325370"/>
              <a:gd name="T6" fmla="*/ 89454 w 2916554"/>
              <a:gd name="T7" fmla="*/ 373042 h 2325370"/>
              <a:gd name="T8" fmla="*/ 48083 w 2916554"/>
              <a:gd name="T9" fmla="*/ 503594 h 2325370"/>
              <a:gd name="T10" fmla="*/ 19082 w 2916554"/>
              <a:gd name="T11" fmla="*/ 639142 h 2325370"/>
              <a:gd name="T12" fmla="*/ 3101 w 2916554"/>
              <a:gd name="T13" fmla="*/ 779041 h 2325370"/>
              <a:gd name="T14" fmla="*/ 779 w 2916554"/>
              <a:gd name="T15" fmla="*/ 922282 h 2325370"/>
              <a:gd name="T16" fmla="*/ 12276 w 2916554"/>
              <a:gd name="T17" fmla="*/ 1063488 h 2325370"/>
              <a:gd name="T18" fmla="*/ 37009 w 2916554"/>
              <a:gd name="T19" fmla="*/ 1200558 h 2325370"/>
              <a:gd name="T20" fmla="*/ 74329 w 2916554"/>
              <a:gd name="T21" fmla="*/ 1332847 h 2325370"/>
              <a:gd name="T22" fmla="*/ 123587 w 2916554"/>
              <a:gd name="T23" fmla="*/ 1459710 h 2325370"/>
              <a:gd name="T24" fmla="*/ 184136 w 2916554"/>
              <a:gd name="T25" fmla="*/ 1580501 h 2325370"/>
              <a:gd name="T26" fmla="*/ 255326 w 2916554"/>
              <a:gd name="T27" fmla="*/ 1694576 h 2325370"/>
              <a:gd name="T28" fmla="*/ 336509 w 2916554"/>
              <a:gd name="T29" fmla="*/ 1801290 h 2325370"/>
              <a:gd name="T30" fmla="*/ 427037 w 2916554"/>
              <a:gd name="T31" fmla="*/ 1899998 h 2325370"/>
              <a:gd name="T32" fmla="*/ 526262 w 2916554"/>
              <a:gd name="T33" fmla="*/ 1990054 h 2325370"/>
              <a:gd name="T34" fmla="*/ 633534 w 2916554"/>
              <a:gd name="T35" fmla="*/ 2070814 h 2325370"/>
              <a:gd name="T36" fmla="*/ 748207 w 2916554"/>
              <a:gd name="T37" fmla="*/ 2141633 h 2325370"/>
              <a:gd name="T38" fmla="*/ 869631 w 2916554"/>
              <a:gd name="T39" fmla="*/ 2201866 h 2325370"/>
              <a:gd name="T40" fmla="*/ 997157 w 2916554"/>
              <a:gd name="T41" fmla="*/ 2250867 h 2325370"/>
              <a:gd name="T42" fmla="*/ 1130138 w 2916554"/>
              <a:gd name="T43" fmla="*/ 2287992 h 2325370"/>
              <a:gd name="T44" fmla="*/ 1267926 w 2916554"/>
              <a:gd name="T45" fmla="*/ 2312596 h 2325370"/>
              <a:gd name="T46" fmla="*/ 1409871 w 2916554"/>
              <a:gd name="T47" fmla="*/ 2324034 h 2325370"/>
              <a:gd name="T48" fmla="*/ 1553861 w 2916554"/>
              <a:gd name="T49" fmla="*/ 2321724 h 2325370"/>
              <a:gd name="T50" fmla="*/ 1694493 w 2916554"/>
              <a:gd name="T51" fmla="*/ 2305826 h 2325370"/>
              <a:gd name="T52" fmla="*/ 1830750 w 2916554"/>
              <a:gd name="T53" fmla="*/ 2276977 h 2325370"/>
              <a:gd name="T54" fmla="*/ 1961985 w 2916554"/>
              <a:gd name="T55" fmla="*/ 2235821 h 2325370"/>
              <a:gd name="T56" fmla="*/ 2087549 w 2916554"/>
              <a:gd name="T57" fmla="*/ 2183004 h 2325370"/>
              <a:gd name="T58" fmla="*/ 2206795 w 2916554"/>
              <a:gd name="T59" fmla="*/ 2119171 h 2325370"/>
              <a:gd name="T60" fmla="*/ 2319073 w 2916554"/>
              <a:gd name="T61" fmla="*/ 2044967 h 2325370"/>
              <a:gd name="T62" fmla="*/ 2423735 w 2916554"/>
              <a:gd name="T63" fmla="*/ 1961036 h 2325370"/>
              <a:gd name="T64" fmla="*/ 2520133 w 2916554"/>
              <a:gd name="T65" fmla="*/ 1868024 h 2325370"/>
              <a:gd name="T66" fmla="*/ 2607618 w 2916554"/>
              <a:gd name="T67" fmla="*/ 1766576 h 2325370"/>
              <a:gd name="T68" fmla="*/ 2685542 w 2916554"/>
              <a:gd name="T69" fmla="*/ 1657337 h 2325370"/>
              <a:gd name="T70" fmla="*/ 2753257 w 2916554"/>
              <a:gd name="T71" fmla="*/ 1540952 h 2325370"/>
              <a:gd name="T72" fmla="*/ 2810114 w 2916554"/>
              <a:gd name="T73" fmla="*/ 1418065 h 2325370"/>
              <a:gd name="T74" fmla="*/ 2855464 w 2916554"/>
              <a:gd name="T75" fmla="*/ 1289322 h 2325370"/>
              <a:gd name="T76" fmla="*/ 2888661 w 2916554"/>
              <a:gd name="T77" fmla="*/ 1155368 h 2325370"/>
              <a:gd name="T78" fmla="*/ 2909054 w 2916554"/>
              <a:gd name="T79" fmla="*/ 1016847 h 2325370"/>
              <a:gd name="T80" fmla="*/ 2915996 w 2916554"/>
              <a:gd name="T81" fmla="*/ 874406 h 2325370"/>
              <a:gd name="T82" fmla="*/ 2909054 w 2916554"/>
              <a:gd name="T83" fmla="*/ 731964 h 2325370"/>
              <a:gd name="T84" fmla="*/ 2888661 w 2916554"/>
              <a:gd name="T85" fmla="*/ 593444 h 2325370"/>
              <a:gd name="T86" fmla="*/ 2855464 w 2916554"/>
              <a:gd name="T87" fmla="*/ 459490 h 2325370"/>
              <a:gd name="T88" fmla="*/ 2810114 w 2916554"/>
              <a:gd name="T89" fmla="*/ 330747 h 2325370"/>
              <a:gd name="T90" fmla="*/ 2753257 w 2916554"/>
              <a:gd name="T91" fmla="*/ 207860 h 2325370"/>
              <a:gd name="T92" fmla="*/ 2685542 w 2916554"/>
              <a:gd name="T93" fmla="*/ 91475 h 2325370"/>
              <a:gd name="T94" fmla="*/ 2621133 w 2916554"/>
              <a:gd name="T95" fmla="*/ 0 h 2325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16554" h="2325370">
                <a:moveTo>
                  <a:pt x="2621133" y="0"/>
                </a:moveTo>
                <a:lnTo>
                  <a:pt x="294862" y="0"/>
                </a:lnTo>
                <a:lnTo>
                  <a:pt x="281308" y="17815"/>
                </a:lnTo>
                <a:lnTo>
                  <a:pt x="255326" y="54236"/>
                </a:lnTo>
                <a:lnTo>
                  <a:pt x="230453" y="91475"/>
                </a:lnTo>
                <a:lnTo>
                  <a:pt x="206715" y="129508"/>
                </a:lnTo>
                <a:lnTo>
                  <a:pt x="184136" y="168311"/>
                </a:lnTo>
                <a:lnTo>
                  <a:pt x="162738" y="207860"/>
                </a:lnTo>
                <a:lnTo>
                  <a:pt x="142548" y="248132"/>
                </a:lnTo>
                <a:lnTo>
                  <a:pt x="123587" y="289102"/>
                </a:lnTo>
                <a:lnTo>
                  <a:pt x="105881" y="330747"/>
                </a:lnTo>
                <a:lnTo>
                  <a:pt x="89454" y="373042"/>
                </a:lnTo>
                <a:lnTo>
                  <a:pt x="74329" y="415965"/>
                </a:lnTo>
                <a:lnTo>
                  <a:pt x="60531" y="459490"/>
                </a:lnTo>
                <a:lnTo>
                  <a:pt x="48083" y="503594"/>
                </a:lnTo>
                <a:lnTo>
                  <a:pt x="37009" y="548253"/>
                </a:lnTo>
                <a:lnTo>
                  <a:pt x="27335" y="593444"/>
                </a:lnTo>
                <a:lnTo>
                  <a:pt x="19082" y="639142"/>
                </a:lnTo>
                <a:lnTo>
                  <a:pt x="12276" y="685323"/>
                </a:lnTo>
                <a:lnTo>
                  <a:pt x="6941" y="731964"/>
                </a:lnTo>
                <a:lnTo>
                  <a:pt x="3101" y="779041"/>
                </a:lnTo>
                <a:lnTo>
                  <a:pt x="779" y="826529"/>
                </a:lnTo>
                <a:lnTo>
                  <a:pt x="0" y="874406"/>
                </a:lnTo>
                <a:lnTo>
                  <a:pt x="779" y="922282"/>
                </a:lnTo>
                <a:lnTo>
                  <a:pt x="3101" y="969771"/>
                </a:lnTo>
                <a:lnTo>
                  <a:pt x="6941" y="1016847"/>
                </a:lnTo>
                <a:lnTo>
                  <a:pt x="12276" y="1063488"/>
                </a:lnTo>
                <a:lnTo>
                  <a:pt x="19082" y="1109670"/>
                </a:lnTo>
                <a:lnTo>
                  <a:pt x="27335" y="1155368"/>
                </a:lnTo>
                <a:lnTo>
                  <a:pt x="37009" y="1200558"/>
                </a:lnTo>
                <a:lnTo>
                  <a:pt x="48083" y="1245218"/>
                </a:lnTo>
                <a:lnTo>
                  <a:pt x="60531" y="1289322"/>
                </a:lnTo>
                <a:lnTo>
                  <a:pt x="74329" y="1332847"/>
                </a:lnTo>
                <a:lnTo>
                  <a:pt x="89454" y="1375769"/>
                </a:lnTo>
                <a:lnTo>
                  <a:pt x="105881" y="1418065"/>
                </a:lnTo>
                <a:lnTo>
                  <a:pt x="123587" y="1459710"/>
                </a:lnTo>
                <a:lnTo>
                  <a:pt x="142548" y="1500680"/>
                </a:lnTo>
                <a:lnTo>
                  <a:pt x="162738" y="1540952"/>
                </a:lnTo>
                <a:lnTo>
                  <a:pt x="184136" y="1580501"/>
                </a:lnTo>
                <a:lnTo>
                  <a:pt x="206715" y="1619304"/>
                </a:lnTo>
                <a:lnTo>
                  <a:pt x="230453" y="1657337"/>
                </a:lnTo>
                <a:lnTo>
                  <a:pt x="255326" y="1694576"/>
                </a:lnTo>
                <a:lnTo>
                  <a:pt x="281308" y="1730997"/>
                </a:lnTo>
                <a:lnTo>
                  <a:pt x="308377" y="1766576"/>
                </a:lnTo>
                <a:lnTo>
                  <a:pt x="336509" y="1801290"/>
                </a:lnTo>
                <a:lnTo>
                  <a:pt x="365679" y="1835114"/>
                </a:lnTo>
                <a:lnTo>
                  <a:pt x="395863" y="1868024"/>
                </a:lnTo>
                <a:lnTo>
                  <a:pt x="427037" y="1899998"/>
                </a:lnTo>
                <a:lnTo>
                  <a:pt x="459178" y="1931009"/>
                </a:lnTo>
                <a:lnTo>
                  <a:pt x="492260" y="1961036"/>
                </a:lnTo>
                <a:lnTo>
                  <a:pt x="526262" y="1990054"/>
                </a:lnTo>
                <a:lnTo>
                  <a:pt x="561157" y="2018039"/>
                </a:lnTo>
                <a:lnTo>
                  <a:pt x="596923" y="2044967"/>
                </a:lnTo>
                <a:lnTo>
                  <a:pt x="633534" y="2070814"/>
                </a:lnTo>
                <a:lnTo>
                  <a:pt x="670968" y="2095557"/>
                </a:lnTo>
                <a:lnTo>
                  <a:pt x="709200" y="2119171"/>
                </a:lnTo>
                <a:lnTo>
                  <a:pt x="748207" y="2141633"/>
                </a:lnTo>
                <a:lnTo>
                  <a:pt x="787963" y="2162919"/>
                </a:lnTo>
                <a:lnTo>
                  <a:pt x="828446" y="2183004"/>
                </a:lnTo>
                <a:lnTo>
                  <a:pt x="869631" y="2201866"/>
                </a:lnTo>
                <a:lnTo>
                  <a:pt x="911493" y="2219479"/>
                </a:lnTo>
                <a:lnTo>
                  <a:pt x="954010" y="2235821"/>
                </a:lnTo>
                <a:lnTo>
                  <a:pt x="997157" y="2250867"/>
                </a:lnTo>
                <a:lnTo>
                  <a:pt x="1040910" y="2264594"/>
                </a:lnTo>
                <a:lnTo>
                  <a:pt x="1085245" y="2276977"/>
                </a:lnTo>
                <a:lnTo>
                  <a:pt x="1130138" y="2287992"/>
                </a:lnTo>
                <a:lnTo>
                  <a:pt x="1175565" y="2297617"/>
                </a:lnTo>
                <a:lnTo>
                  <a:pt x="1221503" y="2305826"/>
                </a:lnTo>
                <a:lnTo>
                  <a:pt x="1267926" y="2312596"/>
                </a:lnTo>
                <a:lnTo>
                  <a:pt x="1314811" y="2317904"/>
                </a:lnTo>
                <a:lnTo>
                  <a:pt x="1362134" y="2321724"/>
                </a:lnTo>
                <a:lnTo>
                  <a:pt x="1409871" y="2324034"/>
                </a:lnTo>
                <a:lnTo>
                  <a:pt x="1457998" y="2324809"/>
                </a:lnTo>
                <a:lnTo>
                  <a:pt x="1506124" y="2324034"/>
                </a:lnTo>
                <a:lnTo>
                  <a:pt x="1553861" y="2321724"/>
                </a:lnTo>
                <a:lnTo>
                  <a:pt x="1601184" y="2317904"/>
                </a:lnTo>
                <a:lnTo>
                  <a:pt x="1648070" y="2312596"/>
                </a:lnTo>
                <a:lnTo>
                  <a:pt x="1694493" y="2305826"/>
                </a:lnTo>
                <a:lnTo>
                  <a:pt x="1740430" y="2297617"/>
                </a:lnTo>
                <a:lnTo>
                  <a:pt x="1785857" y="2287992"/>
                </a:lnTo>
                <a:lnTo>
                  <a:pt x="1830750" y="2276977"/>
                </a:lnTo>
                <a:lnTo>
                  <a:pt x="1875085" y="2264594"/>
                </a:lnTo>
                <a:lnTo>
                  <a:pt x="1918838" y="2250867"/>
                </a:lnTo>
                <a:lnTo>
                  <a:pt x="1961985" y="2235821"/>
                </a:lnTo>
                <a:lnTo>
                  <a:pt x="2004502" y="2219479"/>
                </a:lnTo>
                <a:lnTo>
                  <a:pt x="2046365" y="2201866"/>
                </a:lnTo>
                <a:lnTo>
                  <a:pt x="2087549" y="2183004"/>
                </a:lnTo>
                <a:lnTo>
                  <a:pt x="2128032" y="2162919"/>
                </a:lnTo>
                <a:lnTo>
                  <a:pt x="2167788" y="2141633"/>
                </a:lnTo>
                <a:lnTo>
                  <a:pt x="2206795" y="2119171"/>
                </a:lnTo>
                <a:lnTo>
                  <a:pt x="2245027" y="2095557"/>
                </a:lnTo>
                <a:lnTo>
                  <a:pt x="2282461" y="2070814"/>
                </a:lnTo>
                <a:lnTo>
                  <a:pt x="2319073" y="2044967"/>
                </a:lnTo>
                <a:lnTo>
                  <a:pt x="2354838" y="2018039"/>
                </a:lnTo>
                <a:lnTo>
                  <a:pt x="2389734" y="1990054"/>
                </a:lnTo>
                <a:lnTo>
                  <a:pt x="2423735" y="1961036"/>
                </a:lnTo>
                <a:lnTo>
                  <a:pt x="2456818" y="1931009"/>
                </a:lnTo>
                <a:lnTo>
                  <a:pt x="2488958" y="1899998"/>
                </a:lnTo>
                <a:lnTo>
                  <a:pt x="2520133" y="1868024"/>
                </a:lnTo>
                <a:lnTo>
                  <a:pt x="2550317" y="1835114"/>
                </a:lnTo>
                <a:lnTo>
                  <a:pt x="2579486" y="1801290"/>
                </a:lnTo>
                <a:lnTo>
                  <a:pt x="2607618" y="1766576"/>
                </a:lnTo>
                <a:lnTo>
                  <a:pt x="2634687" y="1730997"/>
                </a:lnTo>
                <a:lnTo>
                  <a:pt x="2660670" y="1694576"/>
                </a:lnTo>
                <a:lnTo>
                  <a:pt x="2685542" y="1657337"/>
                </a:lnTo>
                <a:lnTo>
                  <a:pt x="2709280" y="1619304"/>
                </a:lnTo>
                <a:lnTo>
                  <a:pt x="2731860" y="1580501"/>
                </a:lnTo>
                <a:lnTo>
                  <a:pt x="2753257" y="1540952"/>
                </a:lnTo>
                <a:lnTo>
                  <a:pt x="2773448" y="1500680"/>
                </a:lnTo>
                <a:lnTo>
                  <a:pt x="2792408" y="1459710"/>
                </a:lnTo>
                <a:lnTo>
                  <a:pt x="2810114" y="1418065"/>
                </a:lnTo>
                <a:lnTo>
                  <a:pt x="2826541" y="1375769"/>
                </a:lnTo>
                <a:lnTo>
                  <a:pt x="2841666" y="1332847"/>
                </a:lnTo>
                <a:lnTo>
                  <a:pt x="2855464" y="1289322"/>
                </a:lnTo>
                <a:lnTo>
                  <a:pt x="2867912" y="1245218"/>
                </a:lnTo>
                <a:lnTo>
                  <a:pt x="2878986" y="1200558"/>
                </a:lnTo>
                <a:lnTo>
                  <a:pt x="2888661" y="1155368"/>
                </a:lnTo>
                <a:lnTo>
                  <a:pt x="2896913" y="1109670"/>
                </a:lnTo>
                <a:lnTo>
                  <a:pt x="2903719" y="1063488"/>
                </a:lnTo>
                <a:lnTo>
                  <a:pt x="2909054" y="1016847"/>
                </a:lnTo>
                <a:lnTo>
                  <a:pt x="2912894" y="969771"/>
                </a:lnTo>
                <a:lnTo>
                  <a:pt x="2915216" y="922282"/>
                </a:lnTo>
                <a:lnTo>
                  <a:pt x="2915996" y="874406"/>
                </a:lnTo>
                <a:lnTo>
                  <a:pt x="2915216" y="826529"/>
                </a:lnTo>
                <a:lnTo>
                  <a:pt x="2912894" y="779041"/>
                </a:lnTo>
                <a:lnTo>
                  <a:pt x="2909054" y="731964"/>
                </a:lnTo>
                <a:lnTo>
                  <a:pt x="2903719" y="685323"/>
                </a:lnTo>
                <a:lnTo>
                  <a:pt x="2896913" y="639142"/>
                </a:lnTo>
                <a:lnTo>
                  <a:pt x="2888661" y="593444"/>
                </a:lnTo>
                <a:lnTo>
                  <a:pt x="2878986" y="548253"/>
                </a:lnTo>
                <a:lnTo>
                  <a:pt x="2867912" y="503594"/>
                </a:lnTo>
                <a:lnTo>
                  <a:pt x="2855464" y="459490"/>
                </a:lnTo>
                <a:lnTo>
                  <a:pt x="2841666" y="415965"/>
                </a:lnTo>
                <a:lnTo>
                  <a:pt x="2826541" y="373042"/>
                </a:lnTo>
                <a:lnTo>
                  <a:pt x="2810114" y="330747"/>
                </a:lnTo>
                <a:lnTo>
                  <a:pt x="2792408" y="289102"/>
                </a:lnTo>
                <a:lnTo>
                  <a:pt x="2773448" y="248132"/>
                </a:lnTo>
                <a:lnTo>
                  <a:pt x="2753257" y="207860"/>
                </a:lnTo>
                <a:lnTo>
                  <a:pt x="2731860" y="168311"/>
                </a:lnTo>
                <a:lnTo>
                  <a:pt x="2709280" y="129508"/>
                </a:lnTo>
                <a:lnTo>
                  <a:pt x="2685542" y="91475"/>
                </a:lnTo>
                <a:lnTo>
                  <a:pt x="2660670" y="54236"/>
                </a:lnTo>
                <a:lnTo>
                  <a:pt x="2634687" y="17815"/>
                </a:lnTo>
                <a:lnTo>
                  <a:pt x="2621133" y="0"/>
                </a:lnTo>
                <a:close/>
              </a:path>
            </a:pathLst>
          </a:custGeom>
          <a:solidFill>
            <a:srgbClr val="FF6A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de-DE"/>
          </a:p>
        </p:txBody>
      </p:sp>
      <p:sp>
        <p:nvSpPr>
          <p:cNvPr id="4" name="object 10"/>
          <p:cNvSpPr txBox="1">
            <a:spLocks/>
          </p:cNvSpPr>
          <p:nvPr userDrawn="1"/>
        </p:nvSpPr>
        <p:spPr>
          <a:xfrm>
            <a:off x="1400175" y="452438"/>
            <a:ext cx="3028950" cy="665162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5pPr>
            <a:lvl6pPr marL="357805"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6pPr>
            <a:lvl7pPr marL="715609"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7pPr>
            <a:lvl8pPr marL="1073414"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8pPr>
            <a:lvl9pPr marL="1431219" algn="ctr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marL="12700" algn="l">
              <a:spcBef>
                <a:spcPts val="100"/>
              </a:spcBef>
              <a:defRPr/>
            </a:pPr>
            <a:r>
              <a:rPr lang="de-DE" sz="4200" kern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Text</a:t>
            </a:r>
            <a:r>
              <a:rPr lang="de-DE" sz="4200" kern="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!</a:t>
            </a:r>
            <a:endParaRPr lang="de-DE" sz="4200" kern="0" dirty="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pic>
        <p:nvPicPr>
          <p:cNvPr id="5" name="Grafik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33350"/>
            <a:ext cx="1371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pPr lvl="0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7118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Holder 2"/>
          <p:cNvSpPr>
            <a:spLocks noGrp="1"/>
          </p:cNvSpPr>
          <p:nvPr>
            <p:ph type="title"/>
          </p:nvPr>
        </p:nvSpPr>
        <p:spPr bwMode="auto">
          <a:xfrm>
            <a:off x="84138" y="96838"/>
            <a:ext cx="89757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de-DE" altLang="de-DE"/>
          </a:p>
        </p:txBody>
      </p:sp>
      <p:sp>
        <p:nvSpPr>
          <p:cNvPr id="1027" name="Holder 3"/>
          <p:cNvSpPr>
            <a:spLocks noGrp="1"/>
          </p:cNvSpPr>
          <p:nvPr>
            <p:ph type="body" idx="1"/>
          </p:nvPr>
        </p:nvSpPr>
        <p:spPr bwMode="auto">
          <a:xfrm>
            <a:off x="771525" y="1050925"/>
            <a:ext cx="7458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de-DE" altLang="de-DE"/>
          </a:p>
        </p:txBody>
      </p:sp>
      <p:sp>
        <p:nvSpPr>
          <p:cNvPr id="10" name="Holder 6"/>
          <p:cNvSpPr>
            <a:spLocks noGrp="1"/>
          </p:cNvSpPr>
          <p:nvPr>
            <p:ph type="sldNum" sz="quarter" idx="4"/>
          </p:nvPr>
        </p:nvSpPr>
        <p:spPr>
          <a:xfrm>
            <a:off x="8328025" y="4748213"/>
            <a:ext cx="587375" cy="1857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rgbClr val="ED6E00"/>
                </a:solidFill>
                <a:latin typeface="Inter Light" panose="02000503000000020004" pitchFamily="2" charset="0"/>
              </a:defRPr>
            </a:lvl1pPr>
          </a:lstStyle>
          <a:p>
            <a:fld id="{C9FADCB4-E049-4C13-B4A7-DFE0AA4913AA}" type="slidenum">
              <a:rPr lang="de-DE" altLang="de-DE"/>
              <a:pPr/>
              <a:t>‹Nr.›</a:t>
            </a:fld>
            <a:endParaRPr lang="de-DE" altLang="de-DE"/>
          </a:p>
        </p:txBody>
      </p:sp>
      <p:pic>
        <p:nvPicPr>
          <p:cNvPr id="1029" name="Grafik 5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648200"/>
            <a:ext cx="21336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FF6A00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FF6A00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FF6A00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FF6A00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FF6A00"/>
          </a:solidFill>
          <a:latin typeface="Inter" panose="02000503000000020004" pitchFamily="2" charset="0"/>
          <a:ea typeface="Inter" panose="02000503000000020004" pitchFamily="2" charset="0"/>
          <a:cs typeface="Inter" panose="02000503000000020004" pitchFamily="2" charset="0"/>
        </a:defRPr>
      </a:lvl5pPr>
      <a:lvl6pPr marL="357805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6pPr>
      <a:lvl7pPr marL="715609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7pPr>
      <a:lvl8pPr marL="1073414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8pPr>
      <a:lvl9pPr marL="1431219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Inter Light" panose="02000503000000020004" pitchFamily="2" charset="0"/>
          <a:ea typeface="Inter Light" panose="02000503000000020004" pitchFamily="2" charset="0"/>
          <a:cs typeface="Inter Light" panose="02000503000000020004" pitchFamily="2" charset="0"/>
        </a:defRPr>
      </a:lvl1pPr>
      <a:lvl2pPr marL="357188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Inter Light" panose="02000503000000020004" pitchFamily="2" charset="0"/>
          <a:cs typeface="Inter Light" panose="02000503000000020004" pitchFamily="2" charset="0"/>
        </a:defRPr>
      </a:lvl2pPr>
      <a:lvl3pPr marL="714375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Inter Light" panose="02000503000000020004" pitchFamily="2" charset="0"/>
          <a:cs typeface="Inter Light" panose="02000503000000020004" pitchFamily="2" charset="0"/>
        </a:defRPr>
      </a:lvl3pPr>
      <a:lvl4pPr marL="107315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Inter Light" panose="02000503000000020004" pitchFamily="2" charset="0"/>
          <a:cs typeface="Inter Light" panose="02000503000000020004" pitchFamily="2" charset="0"/>
        </a:defRPr>
      </a:lvl4pPr>
      <a:lvl5pPr marL="1430338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Inter Light" panose="02000503000000020004" pitchFamily="2" charset="0"/>
          <a:cs typeface="Inter Light" panose="02000503000000020004" pitchFamily="2" charset="0"/>
        </a:defRPr>
      </a:lvl5pPr>
      <a:lvl6pPr marL="1789024">
        <a:defRPr>
          <a:latin typeface="+mn-lt"/>
          <a:ea typeface="+mn-ea"/>
          <a:cs typeface="+mn-cs"/>
        </a:defRPr>
      </a:lvl6pPr>
      <a:lvl7pPr marL="2146828">
        <a:defRPr>
          <a:latin typeface="+mn-lt"/>
          <a:ea typeface="+mn-ea"/>
          <a:cs typeface="+mn-cs"/>
        </a:defRPr>
      </a:lvl7pPr>
      <a:lvl8pPr marL="2504633">
        <a:defRPr>
          <a:latin typeface="+mn-lt"/>
          <a:ea typeface="+mn-ea"/>
          <a:cs typeface="+mn-cs"/>
        </a:defRPr>
      </a:lvl8pPr>
      <a:lvl9pPr marL="28624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805">
        <a:defRPr>
          <a:latin typeface="+mn-lt"/>
          <a:ea typeface="+mn-ea"/>
          <a:cs typeface="+mn-cs"/>
        </a:defRPr>
      </a:lvl2pPr>
      <a:lvl3pPr marL="715609">
        <a:defRPr>
          <a:latin typeface="+mn-lt"/>
          <a:ea typeface="+mn-ea"/>
          <a:cs typeface="+mn-cs"/>
        </a:defRPr>
      </a:lvl3pPr>
      <a:lvl4pPr marL="1073414">
        <a:defRPr>
          <a:latin typeface="+mn-lt"/>
          <a:ea typeface="+mn-ea"/>
          <a:cs typeface="+mn-cs"/>
        </a:defRPr>
      </a:lvl4pPr>
      <a:lvl5pPr marL="1431219">
        <a:defRPr>
          <a:latin typeface="+mn-lt"/>
          <a:ea typeface="+mn-ea"/>
          <a:cs typeface="+mn-cs"/>
        </a:defRPr>
      </a:lvl5pPr>
      <a:lvl6pPr marL="1789024">
        <a:defRPr>
          <a:latin typeface="+mn-lt"/>
          <a:ea typeface="+mn-ea"/>
          <a:cs typeface="+mn-cs"/>
        </a:defRPr>
      </a:lvl6pPr>
      <a:lvl7pPr marL="2146828">
        <a:defRPr>
          <a:latin typeface="+mn-lt"/>
          <a:ea typeface="+mn-ea"/>
          <a:cs typeface="+mn-cs"/>
        </a:defRPr>
      </a:lvl7pPr>
      <a:lvl8pPr marL="2504633">
        <a:defRPr>
          <a:latin typeface="+mn-lt"/>
          <a:ea typeface="+mn-ea"/>
          <a:cs typeface="+mn-cs"/>
        </a:defRPr>
      </a:lvl8pPr>
      <a:lvl9pPr marL="28624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mailto:martin.spiertz@thws.de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1</a:t>
            </a:fld>
            <a:endParaRPr lang="de-DE" altLang="de-DE"/>
          </a:p>
        </p:txBody>
      </p:sp>
      <p:sp>
        <p:nvSpPr>
          <p:cNvPr id="14339" name="Titel 7"/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endParaRPr lang="de-DE" altLang="de-DE" dirty="0">
              <a:ea typeface="Roboto Medium" panose="02000000000000000000" pitchFamily="2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E4D7C76-4491-6837-495A-D09AF583F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91600" cy="46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9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platzhalter 32"/>
          <p:cNvSpPr>
            <a:spLocks noGrp="1"/>
          </p:cNvSpPr>
          <p:nvPr>
            <p:ph type="body" sz="quarter" idx="14"/>
          </p:nvPr>
        </p:nvSpPr>
        <p:spPr>
          <a:xfrm>
            <a:off x="685800" y="1590675"/>
            <a:ext cx="6022975" cy="276999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de-DE" altLang="de-DE" dirty="0" err="1"/>
              <a:t>Introduction</a:t>
            </a:r>
            <a:endParaRPr lang="de-DE" altLang="de-DE" dirty="0"/>
          </a:p>
        </p:txBody>
      </p:sp>
      <p:sp>
        <p:nvSpPr>
          <p:cNvPr id="12290" name="Titel 4"/>
          <p:cNvSpPr>
            <a:spLocks noGrp="1"/>
          </p:cNvSpPr>
          <p:nvPr>
            <p:ph type="title"/>
          </p:nvPr>
        </p:nvSpPr>
        <p:spPr>
          <a:xfrm>
            <a:off x="685800" y="693738"/>
            <a:ext cx="6573838" cy="504825"/>
          </a:xfrm>
        </p:spPr>
        <p:txBody>
          <a:bodyPr/>
          <a:lstStyle/>
          <a:p>
            <a:r>
              <a:rPr lang="de-DE" altLang="de-DE" dirty="0"/>
              <a:t>Voice Control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1022CF7-71A0-8899-C12D-041FD1D78C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25496"/>
            <a:ext cx="1735522" cy="12116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CCA00-8F71-CA9D-8AE4-2738978A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176E84ED-57A7-0D23-1008-4BDAA038AE51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3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529AD372-9020-6D3B-E573-5B3A6FCD7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Parallel </a:t>
            </a:r>
            <a:r>
              <a:rPr lang="de-DE" altLang="de-DE" dirty="0" err="1">
                <a:ea typeface="Roboto Medium" panose="02000000000000000000" pitchFamily="2" charset="0"/>
              </a:rPr>
              <a:t>classes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6C05849B-A804-6C9D-9DCD-38A40D7C4F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3608644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German: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Thursday</a:t>
            </a:r>
            <a:r>
              <a:rPr lang="de-DE" altLang="de-DE" dirty="0"/>
              <a:t> 10:00 – 13:15 (4 SWS)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Room 5.1.06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BET: Prozessdatenverarbeitung und eingebettete Systeme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BET: Sprachsteuerung (SPO 2025)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BET: Sprachsteuerung (ältere SPO kann nicht mehr separat angeboten werden)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English: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Thursday</a:t>
            </a:r>
            <a:r>
              <a:rPr lang="de-DE" altLang="de-DE" dirty="0"/>
              <a:t> 14:15 – 15:00 (1 SWS)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Room 1.E.33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IRO: Speech </a:t>
            </a:r>
            <a:r>
              <a:rPr lang="de-DE" altLang="de-DE" dirty="0" err="1"/>
              <a:t>recognition</a:t>
            </a:r>
            <a:r>
              <a:rPr lang="de-DE" altLang="de-DE" dirty="0"/>
              <a:t> and </a:t>
            </a:r>
            <a:r>
              <a:rPr lang="de-DE" altLang="de-DE" dirty="0" err="1"/>
              <a:t>speech</a:t>
            </a:r>
            <a:r>
              <a:rPr lang="de-DE" altLang="de-DE" dirty="0"/>
              <a:t> </a:t>
            </a:r>
            <a:r>
              <a:rPr lang="de-DE" altLang="de-DE" dirty="0" err="1"/>
              <a:t>synthesis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BRO: Spracherkennung und Sprachsynthese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Identical</a:t>
            </a:r>
            <a:r>
              <a:rPr lang="de-DE" altLang="de-DE" dirty="0"/>
              <a:t> </a:t>
            </a:r>
            <a:r>
              <a:rPr lang="de-DE" altLang="de-DE" dirty="0" err="1"/>
              <a:t>content</a:t>
            </a:r>
            <a:r>
              <a:rPr lang="de-DE" altLang="de-DE" dirty="0"/>
              <a:t>, </a:t>
            </a:r>
            <a:r>
              <a:rPr lang="de-DE" altLang="de-DE" dirty="0" err="1"/>
              <a:t>identical</a:t>
            </a:r>
            <a:r>
              <a:rPr lang="de-DE" altLang="de-DE" dirty="0"/>
              <a:t> </a:t>
            </a:r>
            <a:r>
              <a:rPr lang="de-DE" altLang="de-DE" dirty="0" err="1"/>
              <a:t>exam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8117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677F-EAC5-2E55-871B-8BFFCE77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C307DEE7-A156-CA38-5E6E-53257F78D421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4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04B44DFC-C244-FB3F-10E5-5E962F25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 err="1">
                <a:ea typeface="Roboto Medium" panose="02000000000000000000" pitchFamily="2" charset="0"/>
              </a:rPr>
              <a:t>Requirements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BA562FCD-745D-6FC7-6CA2-258D4A5222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1281853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Hardware: Bring </a:t>
            </a:r>
            <a:r>
              <a:rPr lang="de-DE" altLang="de-DE" dirty="0" err="1"/>
              <a:t>your</a:t>
            </a:r>
            <a:r>
              <a:rPr lang="de-DE" altLang="de-DE" dirty="0"/>
              <a:t> own </a:t>
            </a:r>
            <a:r>
              <a:rPr lang="de-DE" altLang="de-DE" dirty="0" err="1"/>
              <a:t>device</a:t>
            </a:r>
            <a:r>
              <a:rPr lang="de-DE" altLang="de-DE" dirty="0"/>
              <a:t> –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Software: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Python, e.g. 3.11 </a:t>
            </a:r>
            <a:r>
              <a:rPr lang="de-DE" altLang="de-DE" dirty="0" err="1"/>
              <a:t>or</a:t>
            </a:r>
            <a:r>
              <a:rPr lang="de-DE" altLang="de-DE" dirty="0"/>
              <a:t> </a:t>
            </a:r>
            <a:r>
              <a:rPr lang="de-DE" altLang="de-DE" dirty="0" err="1"/>
              <a:t>higher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Jupyter</a:t>
            </a:r>
            <a:r>
              <a:rPr lang="de-DE" altLang="de-DE" dirty="0"/>
              <a:t> Notebooks</a:t>
            </a:r>
          </a:p>
        </p:txBody>
      </p:sp>
    </p:spTree>
    <p:extLst>
      <p:ext uri="{BB962C8B-B14F-4D97-AF65-F5344CB8AC3E}">
        <p14:creationId xmlns:p14="http://schemas.microsoft.com/office/powerpoint/2010/main" val="199251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5</a:t>
            </a:fld>
            <a:endParaRPr lang="de-DE" altLang="de-DE"/>
          </a:p>
        </p:txBody>
      </p:sp>
      <p:sp>
        <p:nvSpPr>
          <p:cNvPr id="14339" name="Titel 7"/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Goals and </a:t>
            </a:r>
            <a:r>
              <a:rPr lang="de-DE" altLang="de-DE" dirty="0" err="1">
                <a:ea typeface="Roboto Medium" panose="02000000000000000000" pitchFamily="2" charset="0"/>
              </a:rPr>
              <a:t>motivation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D9E52932-7E79-7C76-9596-5B8EA02B94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4125708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Python </a:t>
            </a:r>
            <a:r>
              <a:rPr lang="de-DE" altLang="de-DE" dirty="0" err="1"/>
              <a:t>programming</a:t>
            </a:r>
            <a:r>
              <a:rPr lang="de-DE" alt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Pair </a:t>
            </a:r>
            <a:r>
              <a:rPr lang="de-DE" altLang="de-DE" dirty="0" err="1"/>
              <a:t>programming</a:t>
            </a:r>
            <a:r>
              <a:rPr lang="de-DE" altLang="de-DE" dirty="0"/>
              <a:t> and </a:t>
            </a:r>
            <a:r>
              <a:rPr lang="de-DE" altLang="de-DE" dirty="0" err="1"/>
              <a:t>test</a:t>
            </a:r>
            <a:r>
              <a:rPr lang="de-DE" altLang="de-DE" dirty="0"/>
              <a:t> </a:t>
            </a:r>
            <a:r>
              <a:rPr lang="de-DE" altLang="de-DE" dirty="0" err="1"/>
              <a:t>driven</a:t>
            </a:r>
            <a:r>
              <a:rPr lang="de-DE" altLang="de-DE" dirty="0"/>
              <a:t> </a:t>
            </a:r>
            <a:r>
              <a:rPr lang="de-DE" altLang="de-DE"/>
              <a:t>development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Audio </a:t>
            </a:r>
            <a:r>
              <a:rPr lang="de-DE" altLang="de-DE" dirty="0" err="1"/>
              <a:t>analysis</a:t>
            </a:r>
            <a:r>
              <a:rPr lang="de-DE" altLang="de-DE" dirty="0"/>
              <a:t> and </a:t>
            </a:r>
            <a:r>
              <a:rPr lang="de-DE" altLang="de-DE" dirty="0" err="1"/>
              <a:t>signal</a:t>
            </a:r>
            <a:r>
              <a:rPr lang="de-DE" altLang="de-DE" dirty="0"/>
              <a:t> </a:t>
            </a:r>
            <a:r>
              <a:rPr lang="de-DE" altLang="de-DE" dirty="0" err="1"/>
              <a:t>processing</a:t>
            </a:r>
            <a:r>
              <a:rPr lang="de-DE" alt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Denoising</a:t>
            </a:r>
            <a:r>
              <a:rPr lang="de-DE" alt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Machine</a:t>
            </a:r>
            <a:r>
              <a:rPr lang="de-DE" altLang="de-DE" dirty="0"/>
              <a:t>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12 </a:t>
            </a:r>
            <a:r>
              <a:rPr lang="de-DE" altLang="de-DE" dirty="0" err="1"/>
              <a:t>Weeks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Week01_PythonTutorial</a:t>
            </a:r>
          </a:p>
          <a:p>
            <a:pPr lvl="1"/>
            <a:r>
              <a:rPr lang="de-DE" altLang="de-DE" dirty="0"/>
              <a:t>…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Week12_MachineLearning_SpeechToText_TextToSpeech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Each</a:t>
            </a:r>
            <a:r>
              <a:rPr lang="de-DE" altLang="de-DE" dirty="0"/>
              <a:t> </a:t>
            </a:r>
            <a:r>
              <a:rPr lang="de-DE" altLang="de-DE" dirty="0" err="1"/>
              <a:t>week</a:t>
            </a:r>
            <a:r>
              <a:rPr lang="de-DE" altLang="de-DE" dirty="0"/>
              <a:t> </a:t>
            </a:r>
            <a:r>
              <a:rPr lang="de-DE" altLang="de-DE" dirty="0" err="1"/>
              <a:t>corresponds</a:t>
            </a:r>
            <a:r>
              <a:rPr lang="de-DE" altLang="de-DE" dirty="0"/>
              <a:t> </a:t>
            </a:r>
            <a:r>
              <a:rPr lang="de-DE" altLang="de-DE" dirty="0" err="1"/>
              <a:t>to</a:t>
            </a:r>
            <a:r>
              <a:rPr lang="de-DE" altLang="de-DE" dirty="0"/>
              <a:t> 1 </a:t>
            </a:r>
            <a:r>
              <a:rPr lang="de-DE" altLang="de-DE" dirty="0" err="1"/>
              <a:t>Jupyter</a:t>
            </a:r>
            <a:r>
              <a:rPr lang="de-DE" altLang="de-DE" dirty="0"/>
              <a:t> Notebook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explains</a:t>
            </a:r>
            <a:r>
              <a:rPr lang="de-DE" altLang="de-DE" dirty="0"/>
              <a:t> a </a:t>
            </a:r>
            <a:r>
              <a:rPr lang="de-DE" altLang="de-DE" dirty="0" err="1"/>
              <a:t>single</a:t>
            </a:r>
            <a:r>
              <a:rPr lang="de-DE" altLang="de-DE" dirty="0"/>
              <a:t> </a:t>
            </a:r>
            <a:r>
              <a:rPr lang="de-DE" altLang="de-DE" dirty="0" err="1"/>
              <a:t>topic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Gives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a </a:t>
            </a:r>
            <a:r>
              <a:rPr lang="de-DE" altLang="de-DE" dirty="0" err="1"/>
              <a:t>programming</a:t>
            </a:r>
            <a:r>
              <a:rPr lang="de-DE" altLang="de-DE" dirty="0"/>
              <a:t> </a:t>
            </a:r>
            <a:r>
              <a:rPr lang="de-DE" altLang="de-DE" dirty="0" err="1"/>
              <a:t>exercise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Gives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a </a:t>
            </a:r>
            <a:r>
              <a:rPr lang="de-DE" altLang="de-DE" dirty="0" err="1"/>
              <a:t>set</a:t>
            </a:r>
            <a:r>
              <a:rPr lang="de-DE" altLang="de-DE" dirty="0"/>
              <a:t> of </a:t>
            </a:r>
            <a:r>
              <a:rPr lang="de-DE" altLang="de-DE" dirty="0" err="1"/>
              <a:t>tasks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exam</a:t>
            </a:r>
            <a:r>
              <a:rPr lang="de-DE" altLang="de-DE" dirty="0"/>
              <a:t> </a:t>
            </a:r>
            <a:r>
              <a:rPr lang="de-DE" altLang="de-DE" dirty="0" err="1"/>
              <a:t>preparation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9626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4E77-5AF5-B239-3584-3FD0D0B7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E6F6FA0E-D93E-AB30-5FC7-22BBA1C8914A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6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A0965D62-8AE9-48C2-B0A1-53841992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Tasks </a:t>
            </a:r>
            <a:r>
              <a:rPr lang="de-DE" altLang="de-DE" dirty="0" err="1">
                <a:ea typeface="Roboto Medium" panose="02000000000000000000" pitchFamily="2" charset="0"/>
              </a:rPr>
              <a:t>for</a:t>
            </a:r>
            <a:r>
              <a:rPr lang="de-DE" altLang="de-DE" dirty="0">
                <a:ea typeface="Roboto Medium" panose="02000000000000000000" pitchFamily="2" charset="0"/>
              </a:rPr>
              <a:t> German </a:t>
            </a:r>
            <a:r>
              <a:rPr lang="de-DE" altLang="de-DE" dirty="0" err="1">
                <a:ea typeface="Roboto Medium" panose="02000000000000000000" pitchFamily="2" charset="0"/>
              </a:rPr>
              <a:t>course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FB97FC4D-32D6-A6B1-2D3C-A178F45AE5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" y="574675"/>
            <a:ext cx="7654925" cy="4384241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>
                <a:cs typeface="Calibri" panose="020F0502020204030204" pitchFamily="34" charset="0"/>
              </a:rPr>
              <a:t>Asynchronous tasks part A (2 hours)</a:t>
            </a:r>
            <a:r>
              <a:rPr lang="en-US" dirty="0">
                <a:cs typeface="Calibri" panose="020F0502020204030204" pitchFamily="34" charset="0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Download the files of the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For last week: Compare own solutions with reference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Read and understand the weekly </a:t>
            </a: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Read the weekly tasks for exam preparation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Prepare and publish in FAQ one question regarding the content of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Exam preparation</a:t>
            </a:r>
          </a:p>
          <a:p>
            <a:r>
              <a:rPr lang="en-US" b="1" dirty="0">
                <a:cs typeface="Calibri" panose="020F0502020204030204" pitchFamily="34" charset="0"/>
              </a:rPr>
              <a:t>Synchronous tasks (4 hours):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Discuss questions in FAQ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Discuss </a:t>
            </a: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Solve the programming exercise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Discuss first exam preparation tasks</a:t>
            </a:r>
          </a:p>
          <a:p>
            <a:r>
              <a:rPr lang="en-US" b="1" dirty="0">
                <a:cs typeface="Calibri" panose="020F0502020204030204" pitchFamily="34" charset="0"/>
              </a:rPr>
              <a:t>Asynchronous tasks part B (2 hours):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Solve exam preparation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464508B-C863-2828-904E-49172F0FD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419350"/>
            <a:ext cx="1895572" cy="190509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D3AD3EE-66AB-C4E2-31E3-C22C6C008F7A}"/>
              </a:ext>
            </a:extLst>
          </p:cNvPr>
          <p:cNvSpPr txBox="1"/>
          <p:nvPr/>
        </p:nvSpPr>
        <p:spPr>
          <a:xfrm>
            <a:off x="6541096" y="4241813"/>
            <a:ext cx="1462580" cy="327012"/>
          </a:xfrm>
          <a:prstGeom prst="rect">
            <a:avLst/>
          </a:prstGeom>
        </p:spPr>
        <p:txBody>
          <a:bodyPr vert="horz" wrap="non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Link </a:t>
            </a:r>
            <a:r>
              <a:rPr lang="de-DE" sz="1400" b="1" spc="15" dirty="0" err="1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to</a:t>
            </a: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 eLearning</a:t>
            </a:r>
          </a:p>
        </p:txBody>
      </p:sp>
    </p:spTree>
    <p:extLst>
      <p:ext uri="{BB962C8B-B14F-4D97-AF65-F5344CB8AC3E}">
        <p14:creationId xmlns:p14="http://schemas.microsoft.com/office/powerpoint/2010/main" val="189118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7FB4A-2F22-5BD2-BCA9-4AE03F71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92BF1A25-8B27-D1A7-487B-02615A74E7F6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7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0E59A786-43FD-9881-7048-A9BE1492A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Tasks </a:t>
            </a:r>
            <a:r>
              <a:rPr lang="de-DE" altLang="de-DE" dirty="0" err="1">
                <a:ea typeface="Roboto Medium" panose="02000000000000000000" pitchFamily="2" charset="0"/>
              </a:rPr>
              <a:t>for</a:t>
            </a:r>
            <a:r>
              <a:rPr lang="de-DE" altLang="de-DE" dirty="0">
                <a:ea typeface="Roboto Medium" panose="02000000000000000000" pitchFamily="2" charset="0"/>
              </a:rPr>
              <a:t> English </a:t>
            </a:r>
            <a:r>
              <a:rPr lang="de-DE" altLang="de-DE" dirty="0" err="1">
                <a:ea typeface="Roboto Medium" panose="02000000000000000000" pitchFamily="2" charset="0"/>
              </a:rPr>
              <a:t>course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F6C7A79A-7419-B7F8-5115-76448C060F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419764"/>
            <a:ext cx="7654925" cy="4642773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>
                <a:cs typeface="Calibri" panose="020F0502020204030204" pitchFamily="34" charset="0"/>
              </a:rPr>
              <a:t>Asynchronous tasks part A (6 hours):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Download the files of the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For last week: Compare own solutions with reference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Read and understand the weekly </a:t>
            </a: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Read the weekly tasks for exam preparation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Prepare and publish in FAQ one question regarding the content of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Exam preparation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Solve the programming exercise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Solve first exam preparation tasks</a:t>
            </a:r>
          </a:p>
          <a:p>
            <a:r>
              <a:rPr lang="en-US" b="1" dirty="0">
                <a:cs typeface="Calibri" panose="020F0502020204030204" pitchFamily="34" charset="0"/>
              </a:rPr>
              <a:t>Synchronous tasks (1 hours):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Discuss questions in FAQ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Discuss open points for </a:t>
            </a: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Discuss open points for exam preparation tasks</a:t>
            </a:r>
          </a:p>
          <a:p>
            <a:r>
              <a:rPr lang="en-US" b="1" dirty="0">
                <a:cs typeface="Calibri" panose="020F0502020204030204" pitchFamily="34" charset="0"/>
              </a:rPr>
              <a:t>Asynchronous tasks part B (1 hours):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Solve exam preparation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97502E4-F104-F3F3-EA4F-F06D74920679}"/>
              </a:ext>
            </a:extLst>
          </p:cNvPr>
          <p:cNvSpPr txBox="1"/>
          <p:nvPr/>
        </p:nvSpPr>
        <p:spPr>
          <a:xfrm>
            <a:off x="6541096" y="4241813"/>
            <a:ext cx="1462580" cy="327012"/>
          </a:xfrm>
          <a:prstGeom prst="rect">
            <a:avLst/>
          </a:prstGeom>
        </p:spPr>
        <p:txBody>
          <a:bodyPr vert="horz" wrap="non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Link </a:t>
            </a:r>
            <a:r>
              <a:rPr lang="de-DE" sz="1400" b="1" spc="15" dirty="0" err="1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to</a:t>
            </a: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 eLearning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501B15-C922-6DB8-B1FC-CA4BABDF6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419350"/>
            <a:ext cx="1895572" cy="187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4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3221-3759-643C-61F0-48D67A07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00D69997-23A0-F9E9-51CA-25620D5E6CC2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8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AD8FFA02-0A57-C1EE-D55B-B38BBB07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Tasks (</a:t>
            </a:r>
            <a:r>
              <a:rPr lang="de-DE" altLang="de-DE" dirty="0" err="1">
                <a:ea typeface="Roboto Medium" panose="02000000000000000000" pitchFamily="2" charset="0"/>
              </a:rPr>
              <a:t>short</a:t>
            </a:r>
            <a:r>
              <a:rPr lang="de-DE" altLang="de-DE" dirty="0">
                <a:ea typeface="Roboto Medium" panose="02000000000000000000" pitchFamily="2" charset="0"/>
              </a:rPr>
              <a:t> </a:t>
            </a:r>
            <a:r>
              <a:rPr lang="de-DE" altLang="de-DE" dirty="0" err="1">
                <a:ea typeface="Roboto Medium" panose="02000000000000000000" pitchFamily="2" charset="0"/>
              </a:rPr>
              <a:t>version</a:t>
            </a:r>
            <a:r>
              <a:rPr lang="de-DE" altLang="de-DE" dirty="0">
                <a:ea typeface="Roboto Medium" panose="02000000000000000000" pitchFamily="2" charset="0"/>
              </a:rPr>
              <a:t>)</a:t>
            </a: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13899522-B259-F114-6F93-80D33DF7F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419764"/>
            <a:ext cx="7654925" cy="2057450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>
                <a:cs typeface="Calibri" panose="020F0502020204030204" pitchFamily="34" charset="0"/>
              </a:rPr>
              <a:t>At home: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Every Monday: Download the files from the cloud.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Work with the current </a:t>
            </a: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Publish two questions in FAQ: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One regarding the </a:t>
            </a:r>
            <a:r>
              <a:rPr lang="en-US" dirty="0" err="1">
                <a:cs typeface="Calibri" panose="020F0502020204030204" pitchFamily="34" charset="0"/>
              </a:rPr>
              <a:t>Jupyter</a:t>
            </a:r>
            <a:r>
              <a:rPr lang="en-US" dirty="0">
                <a:cs typeface="Calibri" panose="020F0502020204030204" pitchFamily="34" charset="0"/>
              </a:rPr>
              <a:t> Notebook and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 pitchFamily="34" charset="0"/>
              </a:rPr>
              <a:t>One regarding the exam preparations.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197D541-B2E6-01ED-3EC4-5AC33E2D7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713" y="2477214"/>
            <a:ext cx="1873346" cy="188604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049E25B-C3C1-64BA-6F4D-B4E98E35D901}"/>
              </a:ext>
            </a:extLst>
          </p:cNvPr>
          <p:cNvSpPr txBox="1"/>
          <p:nvPr/>
        </p:nvSpPr>
        <p:spPr>
          <a:xfrm>
            <a:off x="6541096" y="4241813"/>
            <a:ext cx="1485663" cy="327012"/>
          </a:xfrm>
          <a:prstGeom prst="rect">
            <a:avLst/>
          </a:prstGeom>
        </p:spPr>
        <p:txBody>
          <a:bodyPr vert="horz" wrap="non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Link </a:t>
            </a:r>
            <a:r>
              <a:rPr lang="de-DE" sz="1400" b="1" spc="15" dirty="0" err="1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to</a:t>
            </a: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 </a:t>
            </a:r>
            <a:r>
              <a:rPr lang="de-DE" sz="1400" b="1" spc="15" dirty="0" err="1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cloud</a:t>
            </a:r>
            <a:r>
              <a:rPr lang="de-DE" sz="1400" b="1" spc="15" dirty="0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 </a:t>
            </a:r>
            <a:r>
              <a:rPr lang="de-DE" sz="1400" b="1" spc="15">
                <a:solidFill>
                  <a:srgbClr val="231F20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Roboto"/>
              </a:rPr>
              <a:t>files</a:t>
            </a:r>
            <a:endParaRPr lang="de-DE" sz="1400" b="1" spc="15" dirty="0">
              <a:solidFill>
                <a:srgbClr val="231F20"/>
              </a:solidFill>
              <a:latin typeface="Inter Light" panose="02000503000000020004" pitchFamily="2" charset="0"/>
              <a:ea typeface="Inter Light" panose="02000503000000020004" pitchFamily="2" charset="0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7945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71D80-68A4-9D0C-B6DB-7C6B38264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245D5487-2E1C-356E-C0DC-FEB8185B9058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9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8B459142-FCC5-3FE0-4617-E74A8601A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Time </a:t>
            </a:r>
            <a:r>
              <a:rPr lang="de-DE" altLang="de-DE" dirty="0" err="1">
                <a:ea typeface="Roboto Medium" panose="02000000000000000000" pitchFamily="2" charset="0"/>
              </a:rPr>
              <a:t>schedule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49611BA8-34F8-00DD-2C2E-5D4A004A57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1540385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1 </a:t>
            </a:r>
            <a:r>
              <a:rPr lang="de-DE" altLang="de-DE" dirty="0" err="1"/>
              <a:t>week</a:t>
            </a:r>
            <a:r>
              <a:rPr lang="de-DE" altLang="de-DE" dirty="0"/>
              <a:t>: Python </a:t>
            </a:r>
            <a:r>
              <a:rPr lang="de-DE" altLang="de-DE" dirty="0" err="1"/>
              <a:t>tutorial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5 </a:t>
            </a:r>
            <a:r>
              <a:rPr lang="de-DE" altLang="de-DE" dirty="0" err="1"/>
              <a:t>weeks</a:t>
            </a:r>
            <a:r>
              <a:rPr lang="de-DE" altLang="de-DE" dirty="0"/>
              <a:t>: </a:t>
            </a:r>
            <a:r>
              <a:rPr lang="de-DE" altLang="de-DE" dirty="0" err="1"/>
              <a:t>theory</a:t>
            </a:r>
            <a:r>
              <a:rPr lang="de-DE" altLang="de-DE" dirty="0"/>
              <a:t> </a:t>
            </a:r>
            <a:r>
              <a:rPr lang="de-DE" altLang="de-DE" dirty="0" err="1"/>
              <a:t>part</a:t>
            </a:r>
            <a:r>
              <a:rPr lang="de-DE" altLang="de-DE" dirty="0"/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1 </a:t>
            </a:r>
            <a:r>
              <a:rPr lang="de-DE" altLang="de-DE" dirty="0" err="1"/>
              <a:t>week</a:t>
            </a:r>
            <a:r>
              <a:rPr lang="de-DE" altLang="de-DE" dirty="0"/>
              <a:t>: </a:t>
            </a:r>
            <a:r>
              <a:rPr lang="de-DE" altLang="de-DE" dirty="0" err="1"/>
              <a:t>mock</a:t>
            </a:r>
            <a:r>
              <a:rPr lang="de-DE" altLang="de-DE" dirty="0"/>
              <a:t> </a:t>
            </a:r>
            <a:r>
              <a:rPr lang="de-DE" altLang="de-DE" dirty="0" err="1"/>
              <a:t>exam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5 </a:t>
            </a:r>
            <a:r>
              <a:rPr lang="de-DE" altLang="de-DE" dirty="0" err="1"/>
              <a:t>weeks</a:t>
            </a:r>
            <a:r>
              <a:rPr lang="de-DE" altLang="de-DE" dirty="0"/>
              <a:t>: </a:t>
            </a:r>
            <a:r>
              <a:rPr lang="de-DE" altLang="de-DE" dirty="0" err="1"/>
              <a:t>theory</a:t>
            </a:r>
            <a:r>
              <a:rPr lang="de-DE" altLang="de-DE" dirty="0"/>
              <a:t> </a:t>
            </a:r>
            <a:r>
              <a:rPr lang="de-DE" altLang="de-DE" dirty="0" err="1"/>
              <a:t>part</a:t>
            </a:r>
            <a:r>
              <a:rPr lang="de-DE" altLang="de-DE" dirty="0"/>
              <a:t>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Remaining</a:t>
            </a:r>
            <a:r>
              <a:rPr lang="de-DE" altLang="de-DE" dirty="0"/>
              <a:t> </a:t>
            </a:r>
            <a:r>
              <a:rPr lang="de-DE" altLang="de-DE" dirty="0" err="1"/>
              <a:t>weeks</a:t>
            </a:r>
            <a:r>
              <a:rPr lang="de-DE" altLang="de-DE" dirty="0"/>
              <a:t>: </a:t>
            </a:r>
            <a:r>
              <a:rPr lang="de-DE" altLang="de-DE" dirty="0" err="1"/>
              <a:t>exam</a:t>
            </a:r>
            <a:r>
              <a:rPr lang="de-DE" altLang="de-DE" dirty="0"/>
              <a:t> </a:t>
            </a:r>
            <a:r>
              <a:rPr lang="de-DE" altLang="de-DE" dirty="0" err="1"/>
              <a:t>preparation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50301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1689-DEB0-A7BE-6FA1-21FBC998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8A66234-B065-FAC4-FD94-BD20A28F6E2F}"/>
              </a:ext>
            </a:extLst>
          </p:cNvPr>
          <p:cNvSpPr/>
          <p:nvPr/>
        </p:nvSpPr>
        <p:spPr>
          <a:xfrm>
            <a:off x="838200" y="2724150"/>
            <a:ext cx="4724400" cy="7620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7E94FE8C-9562-C45C-50FB-C3EEEF59A2A2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10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5CE6DC78-C3DB-4489-C2BF-0D1CE5C7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Time </a:t>
            </a:r>
            <a:r>
              <a:rPr lang="de-DE" altLang="de-DE" dirty="0" err="1">
                <a:ea typeface="Roboto Medium" panose="02000000000000000000" pitchFamily="2" charset="0"/>
              </a:rPr>
              <a:t>schedule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5F38E100-EAB3-67E1-234F-9575CB2481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3608644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Each</a:t>
            </a:r>
            <a:r>
              <a:rPr lang="de-DE" altLang="de-DE" dirty="0"/>
              <a:t> Monday,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cloud</a:t>
            </a:r>
            <a:r>
              <a:rPr lang="de-DE" altLang="de-DE" dirty="0"/>
              <a:t>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already</a:t>
            </a:r>
            <a:r>
              <a:rPr lang="de-DE" altLang="de-DE" dirty="0"/>
              <a:t> </a:t>
            </a:r>
            <a:r>
              <a:rPr lang="de-DE" altLang="de-DE" dirty="0" err="1"/>
              <a:t>updated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download</a:t>
            </a:r>
            <a:r>
              <a:rPr lang="de-DE" altLang="de-DE" dirty="0"/>
              <a:t> </a:t>
            </a:r>
            <a:r>
              <a:rPr lang="de-DE" altLang="de-DE" dirty="0" err="1"/>
              <a:t>newest</a:t>
            </a:r>
            <a:r>
              <a:rPr lang="de-DE" altLang="de-DE" dirty="0"/>
              <a:t> </a:t>
            </a:r>
            <a:r>
              <a:rPr lang="de-DE" altLang="de-DE" dirty="0" err="1"/>
              <a:t>files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Read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tasks</a:t>
            </a:r>
            <a:r>
              <a:rPr lang="de-DE" altLang="de-DE" dirty="0"/>
              <a:t> of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week</a:t>
            </a:r>
            <a:r>
              <a:rPr lang="de-DE" altLang="de-DE" dirty="0"/>
              <a:t> (Focus: </a:t>
            </a:r>
            <a:r>
              <a:rPr lang="de-DE" altLang="de-DE" dirty="0" err="1"/>
              <a:t>work</a:t>
            </a:r>
            <a:r>
              <a:rPr lang="de-DE" altLang="de-DE" dirty="0"/>
              <a:t> </a:t>
            </a:r>
            <a:r>
              <a:rPr lang="de-DE" altLang="de-DE" dirty="0" err="1"/>
              <a:t>with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Jupyter</a:t>
            </a:r>
            <a:r>
              <a:rPr lang="de-DE" altLang="de-DE" dirty="0"/>
              <a:t> Notebook)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Do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tasks</a:t>
            </a:r>
            <a:r>
              <a:rPr lang="de-DE" altLang="de-DE" dirty="0"/>
              <a:t> of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week</a:t>
            </a:r>
            <a:r>
              <a:rPr lang="de-DE" altLang="de-DE" dirty="0">
                <a:sym typeface="Wingdings" panose="05000000000000000000" pitchFamily="2" charset="2"/>
              </a:rPr>
              <a:t>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 1: 16.03. – 20.03.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 2: </a:t>
            </a:r>
            <a:r>
              <a:rPr lang="de-DE" altLang="de-DE" dirty="0" err="1"/>
              <a:t>Acoustic</a:t>
            </a:r>
            <a:r>
              <a:rPr lang="de-DE" altLang="de-DE" dirty="0"/>
              <a:t> Conference and Easter: </a:t>
            </a:r>
            <a:r>
              <a:rPr lang="de-DE" altLang="de-DE" dirty="0" err="1"/>
              <a:t>no</a:t>
            </a:r>
            <a:r>
              <a:rPr lang="de-DE" altLang="de-DE" dirty="0"/>
              <a:t> </a:t>
            </a:r>
            <a:r>
              <a:rPr lang="de-DE" altLang="de-DE" dirty="0" err="1"/>
              <a:t>lessons</a:t>
            </a:r>
            <a:r>
              <a:rPr lang="de-DE" altLang="de-DE" dirty="0"/>
              <a:t>, but FAQ and </a:t>
            </a:r>
            <a:r>
              <a:rPr lang="de-DE" altLang="de-DE" dirty="0" err="1"/>
              <a:t>self</a:t>
            </a:r>
            <a:r>
              <a:rPr lang="de-DE" altLang="de-DE" dirty="0"/>
              <a:t> </a:t>
            </a:r>
            <a:r>
              <a:rPr lang="de-DE" altLang="de-DE" dirty="0" err="1"/>
              <a:t>learning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On Sunday, 05.04.,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software</a:t>
            </a:r>
            <a:r>
              <a:rPr lang="de-DE" altLang="de-DE" dirty="0"/>
              <a:t> </a:t>
            </a:r>
            <a:r>
              <a:rPr lang="de-DE" altLang="de-DE" dirty="0" err="1"/>
              <a:t>should</a:t>
            </a:r>
            <a:r>
              <a:rPr lang="de-DE" altLang="de-DE" dirty="0"/>
              <a:t> </a:t>
            </a:r>
            <a:r>
              <a:rPr lang="de-DE" altLang="de-DE" dirty="0" err="1"/>
              <a:t>run</a:t>
            </a:r>
            <a:r>
              <a:rPr lang="de-DE" altLang="de-DE" dirty="0"/>
              <a:t> and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 1 and </a:t>
            </a:r>
            <a:r>
              <a:rPr lang="de-DE" altLang="de-DE" dirty="0" err="1"/>
              <a:t>week</a:t>
            </a:r>
            <a:r>
              <a:rPr lang="de-DE" altLang="de-DE" dirty="0"/>
              <a:t> 2 </a:t>
            </a:r>
            <a:r>
              <a:rPr lang="de-DE" altLang="de-DE" dirty="0" err="1"/>
              <a:t>should</a:t>
            </a:r>
            <a:r>
              <a:rPr lang="de-DE" altLang="de-DE" dirty="0"/>
              <a:t> </a:t>
            </a:r>
            <a:r>
              <a:rPr lang="de-DE" altLang="de-DE" dirty="0" err="1"/>
              <a:t>be</a:t>
            </a:r>
            <a:r>
              <a:rPr lang="de-DE" altLang="de-DE" dirty="0"/>
              <a:t> </a:t>
            </a:r>
            <a:r>
              <a:rPr lang="de-DE" altLang="de-DE" dirty="0" err="1"/>
              <a:t>finished</a:t>
            </a:r>
            <a:r>
              <a:rPr lang="de-DE" altLang="de-DE" dirty="0"/>
              <a:t> </a:t>
            </a:r>
            <a:r>
              <a:rPr lang="de-DE" altLang="de-DE" dirty="0" err="1"/>
              <a:t>by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 3: 06.04. – 10.04.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 4: 13.04. – 17.04.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605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89F8-960F-BC08-958E-8F51A65A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97CB26FB-77E4-9EE4-E2A3-A8C2B2DF2991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11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010C4F35-6C59-EAE5-F173-CCD6872E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Support </a:t>
            </a:r>
            <a:r>
              <a:rPr lang="de-DE" altLang="de-DE" dirty="0" err="1">
                <a:ea typeface="Roboto Medium" panose="02000000000000000000" pitchFamily="2" charset="0"/>
              </a:rPr>
              <a:t>for</a:t>
            </a:r>
            <a:r>
              <a:rPr lang="de-DE" altLang="de-DE" dirty="0">
                <a:ea typeface="Roboto Medium" panose="02000000000000000000" pitchFamily="2" charset="0"/>
              </a:rPr>
              <a:t> </a:t>
            </a:r>
            <a:r>
              <a:rPr lang="de-DE" altLang="de-DE" dirty="0" err="1">
                <a:ea typeface="Roboto Medium" panose="02000000000000000000" pitchFamily="2" charset="0"/>
              </a:rPr>
              <a:t>the</a:t>
            </a:r>
            <a:r>
              <a:rPr lang="de-DE" altLang="de-DE" dirty="0">
                <a:ea typeface="Roboto Medium" panose="02000000000000000000" pitchFamily="2" charset="0"/>
              </a:rPr>
              <a:t> </a:t>
            </a:r>
            <a:r>
              <a:rPr lang="de-DE" altLang="de-DE" dirty="0" err="1">
                <a:ea typeface="Roboto Medium" panose="02000000000000000000" pitchFamily="2" charset="0"/>
              </a:rPr>
              <a:t>students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345D4240-D374-29FC-FB68-155428D13B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2272894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Weekly support: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use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time in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class</a:t>
            </a:r>
            <a:r>
              <a:rPr lang="de-DE" altLang="de-DE" dirty="0"/>
              <a:t> </a:t>
            </a:r>
            <a:r>
              <a:rPr lang="de-DE" altLang="de-DE" dirty="0" err="1"/>
              <a:t>room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questions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Every </a:t>
            </a:r>
            <a:r>
              <a:rPr lang="de-DE" altLang="de-DE" dirty="0" err="1"/>
              <a:t>weekend</a:t>
            </a:r>
            <a:r>
              <a:rPr lang="de-DE" altLang="de-DE" dirty="0"/>
              <a:t>,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reference</a:t>
            </a:r>
            <a:r>
              <a:rPr lang="de-DE" altLang="de-DE" dirty="0"/>
              <a:t> </a:t>
            </a:r>
            <a:r>
              <a:rPr lang="de-DE" altLang="de-DE" dirty="0" err="1"/>
              <a:t>solutions</a:t>
            </a:r>
            <a:r>
              <a:rPr lang="de-DE" altLang="de-DE" dirty="0"/>
              <a:t> </a:t>
            </a:r>
            <a:r>
              <a:rPr lang="de-DE" altLang="de-DE" dirty="0" err="1"/>
              <a:t>are</a:t>
            </a:r>
            <a:r>
              <a:rPr lang="de-DE" altLang="de-DE" dirty="0"/>
              <a:t> </a:t>
            </a:r>
            <a:r>
              <a:rPr lang="de-DE" altLang="de-DE" dirty="0" err="1"/>
              <a:t>published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Normal </a:t>
            </a:r>
            <a:r>
              <a:rPr lang="de-DE" altLang="de-DE" dirty="0" err="1"/>
              <a:t>consultation</a:t>
            </a:r>
            <a:r>
              <a:rPr lang="de-DE" altLang="de-DE" dirty="0"/>
              <a:t> </a:t>
            </a:r>
            <a:r>
              <a:rPr lang="de-DE" altLang="de-DE" dirty="0" err="1"/>
              <a:t>hours</a:t>
            </a:r>
            <a:r>
              <a:rPr lang="de-DE" altLang="de-DE" dirty="0"/>
              <a:t>: </a:t>
            </a:r>
            <a:r>
              <a:rPr lang="de-DE" altLang="de-DE" dirty="0" err="1"/>
              <a:t>please</a:t>
            </a:r>
            <a:r>
              <a:rPr lang="de-DE" altLang="de-DE" dirty="0"/>
              <a:t> </a:t>
            </a:r>
            <a:r>
              <a:rPr lang="de-DE" altLang="de-DE" dirty="0" err="1"/>
              <a:t>take</a:t>
            </a:r>
            <a:r>
              <a:rPr lang="de-DE" altLang="de-DE" dirty="0"/>
              <a:t> a </a:t>
            </a:r>
            <a:r>
              <a:rPr lang="de-DE" altLang="de-DE" dirty="0" err="1"/>
              <a:t>look</a:t>
            </a:r>
            <a:r>
              <a:rPr lang="de-DE" altLang="de-DE" dirty="0"/>
              <a:t> at </a:t>
            </a:r>
            <a:r>
              <a:rPr lang="de-DE" altLang="de-DE" dirty="0" err="1"/>
              <a:t>my</a:t>
            </a:r>
            <a:r>
              <a:rPr lang="de-DE" altLang="de-DE" dirty="0"/>
              <a:t> </a:t>
            </a:r>
            <a:r>
              <a:rPr lang="de-DE" altLang="de-DE" dirty="0" err="1"/>
              <a:t>website</a:t>
            </a:r>
            <a:r>
              <a:rPr lang="de-DE" altLang="de-DE" dirty="0"/>
              <a:t> (</a:t>
            </a:r>
            <a:r>
              <a:rPr lang="de-DE" altLang="de-DE" dirty="0" err="1"/>
              <a:t>google</a:t>
            </a:r>
            <a:r>
              <a:rPr lang="de-DE" altLang="de-DE" dirty="0"/>
              <a:t>-&gt;“</a:t>
            </a:r>
            <a:r>
              <a:rPr lang="de-DE" altLang="de-DE" dirty="0" err="1"/>
              <a:t>spiertz</a:t>
            </a:r>
            <a:r>
              <a:rPr lang="de-DE" altLang="de-DE" dirty="0"/>
              <a:t> </a:t>
            </a:r>
            <a:r>
              <a:rPr lang="de-DE" altLang="de-DE" dirty="0" err="1"/>
              <a:t>thws</a:t>
            </a:r>
            <a:r>
              <a:rPr lang="de-DE" altLang="de-DE" dirty="0"/>
              <a:t>“)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Midterm</a:t>
            </a:r>
            <a:r>
              <a:rPr lang="de-DE" altLang="de-DE" dirty="0"/>
              <a:t> support: </a:t>
            </a:r>
            <a:r>
              <a:rPr lang="de-DE" altLang="de-DE" dirty="0" err="1"/>
              <a:t>mock</a:t>
            </a:r>
            <a:r>
              <a:rPr lang="de-DE" altLang="de-DE" dirty="0"/>
              <a:t> </a:t>
            </a:r>
            <a:r>
              <a:rPr lang="de-DE" altLang="de-DE" dirty="0" err="1"/>
              <a:t>exam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Asynchronous</a:t>
            </a:r>
            <a:r>
              <a:rPr lang="de-DE" altLang="de-DE" dirty="0"/>
              <a:t> </a:t>
            </a:r>
            <a:r>
              <a:rPr lang="de-DE" altLang="de-DE" dirty="0" err="1"/>
              <a:t>feedback</a:t>
            </a:r>
            <a:r>
              <a:rPr lang="de-DE" altLang="de-DE" dirty="0"/>
              <a:t> </a:t>
            </a:r>
            <a:r>
              <a:rPr lang="de-DE" altLang="de-DE" dirty="0" err="1"/>
              <a:t>by</a:t>
            </a:r>
            <a:r>
              <a:rPr lang="de-DE" altLang="de-DE" dirty="0"/>
              <a:t> FAQ </a:t>
            </a:r>
            <a:r>
              <a:rPr lang="de-DE" altLang="de-DE" dirty="0" err="1"/>
              <a:t>forum</a:t>
            </a:r>
            <a:r>
              <a:rPr lang="de-DE" altLang="de-DE" dirty="0"/>
              <a:t> (</a:t>
            </a:r>
            <a:r>
              <a:rPr lang="de-DE" altLang="de-DE" dirty="0" err="1"/>
              <a:t>moderated</a:t>
            </a:r>
            <a:r>
              <a:rPr lang="de-DE" altLang="de-DE" dirty="0"/>
              <a:t> </a:t>
            </a:r>
            <a:r>
              <a:rPr lang="de-DE" altLang="de-DE" dirty="0" err="1"/>
              <a:t>by</a:t>
            </a:r>
            <a:r>
              <a:rPr lang="de-DE" altLang="de-DE" dirty="0"/>
              <a:t> </a:t>
            </a:r>
            <a:r>
              <a:rPr lang="de-DE" altLang="de-DE" dirty="0" err="1"/>
              <a:t>me</a:t>
            </a:r>
            <a:r>
              <a:rPr lang="de-DE" alt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Immediate </a:t>
            </a:r>
            <a:r>
              <a:rPr lang="de-DE" altLang="de-DE" dirty="0" err="1"/>
              <a:t>feedback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programming</a:t>
            </a:r>
            <a:r>
              <a:rPr lang="de-DE" altLang="de-DE" dirty="0"/>
              <a:t> </a:t>
            </a:r>
            <a:r>
              <a:rPr lang="de-DE" altLang="de-DE" dirty="0" err="1"/>
              <a:t>exercises</a:t>
            </a:r>
            <a:r>
              <a:rPr lang="de-DE" altLang="de-DE" dirty="0"/>
              <a:t> </a:t>
            </a:r>
            <a:r>
              <a:rPr lang="de-DE" altLang="de-DE" dirty="0" err="1"/>
              <a:t>by</a:t>
            </a:r>
            <a:r>
              <a:rPr lang="de-DE" altLang="de-DE" dirty="0"/>
              <a:t> </a:t>
            </a:r>
            <a:r>
              <a:rPr lang="de-DE" altLang="de-DE" dirty="0" err="1"/>
              <a:t>unit</a:t>
            </a:r>
            <a:r>
              <a:rPr lang="de-DE" altLang="de-DE" dirty="0"/>
              <a:t> </a:t>
            </a:r>
            <a:r>
              <a:rPr lang="de-DE" altLang="de-DE" dirty="0" err="1"/>
              <a:t>tests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969352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1AC02-C415-37C4-6C58-4A7A1654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AB68F145-D66E-BE71-9F6E-64833144ABFB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12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8E172E61-AF85-88E1-A442-9A29DE642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Grade </a:t>
            </a:r>
            <a:r>
              <a:rPr lang="de-DE" altLang="de-DE" dirty="0" err="1">
                <a:ea typeface="Roboto Medium" panose="02000000000000000000" pitchFamily="2" charset="0"/>
              </a:rPr>
              <a:t>improvement</a:t>
            </a:r>
            <a:endParaRPr lang="de-DE" altLang="de-DE" dirty="0">
              <a:ea typeface="Roboto Medium" panose="02000000000000000000" pitchFamily="2" charset="0"/>
            </a:endParaRP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02B6BF0C-533E-F266-B8CF-70D83F0AE3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2746869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Special </a:t>
            </a:r>
            <a:r>
              <a:rPr lang="de-DE" altLang="de-DE" dirty="0" err="1"/>
              <a:t>task</a:t>
            </a:r>
            <a:r>
              <a:rPr lang="de-DE" altLang="de-DE" dirty="0"/>
              <a:t> in </a:t>
            </a:r>
            <a:r>
              <a:rPr lang="de-DE" altLang="de-DE" dirty="0" err="1"/>
              <a:t>april</a:t>
            </a:r>
            <a:r>
              <a:rPr lang="de-DE" altLang="de-DE" dirty="0"/>
              <a:t> and </a:t>
            </a:r>
            <a:r>
              <a:rPr lang="de-DE" altLang="de-DE" dirty="0" err="1"/>
              <a:t>may</a:t>
            </a:r>
            <a:r>
              <a:rPr lang="de-DE" alt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Successfull</a:t>
            </a:r>
            <a:r>
              <a:rPr lang="de-DE" altLang="de-DE" dirty="0"/>
              <a:t> </a:t>
            </a:r>
            <a:r>
              <a:rPr lang="de-DE" altLang="de-DE" dirty="0" err="1"/>
              <a:t>participating</a:t>
            </a:r>
            <a:r>
              <a:rPr lang="de-DE" altLang="de-DE" dirty="0"/>
              <a:t> </a:t>
            </a:r>
            <a:r>
              <a:rPr lang="de-DE" altLang="de-DE" dirty="0" err="1"/>
              <a:t>means</a:t>
            </a:r>
            <a:r>
              <a:rPr lang="de-DE" altLang="de-DE" dirty="0"/>
              <a:t>: </a:t>
            </a:r>
            <a:r>
              <a:rPr lang="de-DE" altLang="de-DE" dirty="0" err="1"/>
              <a:t>if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pass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exam</a:t>
            </a:r>
            <a:r>
              <a:rPr lang="de-DE" altLang="de-DE" dirty="0"/>
              <a:t>, </a:t>
            </a:r>
            <a:r>
              <a:rPr lang="de-DE" altLang="de-DE" dirty="0" err="1"/>
              <a:t>your</a:t>
            </a:r>
            <a:r>
              <a:rPr lang="de-DE" altLang="de-DE" dirty="0"/>
              <a:t> grade will </a:t>
            </a:r>
            <a:r>
              <a:rPr lang="de-DE" altLang="de-DE" dirty="0" err="1"/>
              <a:t>be</a:t>
            </a:r>
            <a:r>
              <a:rPr lang="de-DE" altLang="de-DE" dirty="0"/>
              <a:t> </a:t>
            </a:r>
            <a:r>
              <a:rPr lang="de-DE" altLang="de-DE" dirty="0" err="1"/>
              <a:t>improved</a:t>
            </a:r>
            <a:r>
              <a:rPr lang="de-DE" altLang="de-DE" dirty="0"/>
              <a:t> </a:t>
            </a:r>
            <a:r>
              <a:rPr lang="de-DE" altLang="de-DE" dirty="0" err="1"/>
              <a:t>by</a:t>
            </a:r>
            <a:r>
              <a:rPr lang="de-DE" altLang="de-DE" dirty="0"/>
              <a:t> </a:t>
            </a:r>
            <a:r>
              <a:rPr lang="de-DE" altLang="de-DE" dirty="0" err="1"/>
              <a:t>one</a:t>
            </a:r>
            <a:r>
              <a:rPr lang="de-DE" altLang="de-DE" dirty="0"/>
              <a:t> </a:t>
            </a:r>
            <a:r>
              <a:rPr lang="de-DE" altLang="de-DE" dirty="0" err="1"/>
              <a:t>step</a:t>
            </a:r>
            <a:r>
              <a:rPr lang="de-DE" altLang="de-DE" dirty="0"/>
              <a:t>, e.g. 3.7 -&gt; 3.3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I </a:t>
            </a:r>
            <a:r>
              <a:rPr lang="de-DE" altLang="de-DE" dirty="0" err="1"/>
              <a:t>need</a:t>
            </a:r>
            <a:r>
              <a:rPr lang="de-DE" altLang="de-DE" dirty="0"/>
              <a:t> </a:t>
            </a:r>
            <a:r>
              <a:rPr lang="de-DE" altLang="de-DE" dirty="0" err="1"/>
              <a:t>four</a:t>
            </a:r>
            <a:r>
              <a:rPr lang="de-DE" altLang="de-DE" dirty="0"/>
              <a:t> </a:t>
            </a:r>
            <a:r>
              <a:rPr lang="de-DE" altLang="de-DE" dirty="0" err="1"/>
              <a:t>voice</a:t>
            </a:r>
            <a:r>
              <a:rPr lang="de-DE" altLang="de-DE" dirty="0"/>
              <a:t> </a:t>
            </a:r>
            <a:r>
              <a:rPr lang="de-DE" altLang="de-DE" dirty="0" err="1"/>
              <a:t>recordings</a:t>
            </a:r>
            <a:r>
              <a:rPr lang="de-DE" altLang="de-DE" dirty="0"/>
              <a:t> (2 </a:t>
            </a:r>
            <a:r>
              <a:rPr lang="de-DE" altLang="de-DE" dirty="0" err="1"/>
              <a:t>female</a:t>
            </a:r>
            <a:r>
              <a:rPr lang="de-DE" altLang="de-DE" dirty="0"/>
              <a:t>, 2 male) </a:t>
            </a:r>
            <a:r>
              <a:rPr lang="de-DE" altLang="de-DE" dirty="0" err="1"/>
              <a:t>under</a:t>
            </a:r>
            <a:r>
              <a:rPr lang="de-DE" altLang="de-DE" dirty="0"/>
              <a:t> different </a:t>
            </a:r>
            <a:r>
              <a:rPr lang="de-DE" altLang="de-DE" dirty="0" err="1"/>
              <a:t>background</a:t>
            </a:r>
            <a:r>
              <a:rPr lang="de-DE" altLang="de-DE" dirty="0"/>
              <a:t> </a:t>
            </a:r>
            <a:r>
              <a:rPr lang="de-DE" altLang="de-DE" dirty="0" err="1"/>
              <a:t>noise</a:t>
            </a:r>
            <a:r>
              <a:rPr lang="de-DE" altLang="de-DE" dirty="0"/>
              <a:t> </a:t>
            </a:r>
            <a:r>
              <a:rPr lang="de-DE" altLang="de-DE" dirty="0" err="1"/>
              <a:t>situation</a:t>
            </a:r>
            <a:r>
              <a:rPr lang="de-DE" alt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The </a:t>
            </a:r>
            <a:r>
              <a:rPr lang="de-DE" altLang="de-DE" dirty="0" err="1"/>
              <a:t>recording</a:t>
            </a:r>
            <a:r>
              <a:rPr lang="de-DE" altLang="de-DE" dirty="0"/>
              <a:t> time will </a:t>
            </a:r>
            <a:r>
              <a:rPr lang="de-DE" altLang="de-DE" dirty="0" err="1"/>
              <a:t>be</a:t>
            </a:r>
            <a:r>
              <a:rPr lang="de-DE" altLang="de-DE" dirty="0"/>
              <a:t> in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range</a:t>
            </a:r>
            <a:r>
              <a:rPr lang="de-DE" altLang="de-DE" dirty="0"/>
              <a:t> of 5-10 </a:t>
            </a:r>
            <a:r>
              <a:rPr lang="de-DE" altLang="de-DE" dirty="0" err="1"/>
              <a:t>minutes</a:t>
            </a:r>
            <a:r>
              <a:rPr lang="de-DE" altLang="de-DE" dirty="0"/>
              <a:t> per </a:t>
            </a:r>
            <a:r>
              <a:rPr lang="de-DE" altLang="de-DE" dirty="0" err="1"/>
              <a:t>person</a:t>
            </a:r>
            <a:r>
              <a:rPr lang="de-DE" alt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These </a:t>
            </a:r>
            <a:r>
              <a:rPr lang="de-DE" altLang="de-DE" dirty="0" err="1"/>
              <a:t>recordings</a:t>
            </a:r>
            <a:r>
              <a:rPr lang="de-DE" altLang="de-DE" dirty="0"/>
              <a:t> will </a:t>
            </a:r>
            <a:r>
              <a:rPr lang="de-DE" altLang="de-DE" dirty="0" err="1"/>
              <a:t>be</a:t>
            </a:r>
            <a:r>
              <a:rPr lang="de-DE" altLang="de-DE" dirty="0"/>
              <a:t> </a:t>
            </a:r>
            <a:r>
              <a:rPr lang="de-DE" altLang="de-DE" b="1" dirty="0" err="1"/>
              <a:t>published</a:t>
            </a:r>
            <a:r>
              <a:rPr lang="de-DE" altLang="de-DE" dirty="0"/>
              <a:t> </a:t>
            </a:r>
            <a:r>
              <a:rPr lang="de-DE" altLang="de-DE" dirty="0" err="1"/>
              <a:t>anonymously</a:t>
            </a:r>
            <a:r>
              <a:rPr lang="de-DE" alt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I will also </a:t>
            </a:r>
            <a:r>
              <a:rPr lang="de-DE" altLang="de-DE" dirty="0" err="1"/>
              <a:t>participate</a:t>
            </a:r>
            <a:r>
              <a:rPr lang="de-DE" alt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The </a:t>
            </a:r>
            <a:r>
              <a:rPr lang="de-DE" altLang="de-DE" dirty="0" err="1"/>
              <a:t>scientific</a:t>
            </a:r>
            <a:r>
              <a:rPr lang="de-DE" altLang="de-DE" dirty="0"/>
              <a:t> </a:t>
            </a:r>
            <a:r>
              <a:rPr lang="de-DE" altLang="de-DE" dirty="0" err="1"/>
              <a:t>topic</a:t>
            </a:r>
            <a:r>
              <a:rPr lang="de-DE" altLang="de-DE" dirty="0"/>
              <a:t>: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lombard</a:t>
            </a:r>
            <a:r>
              <a:rPr lang="de-DE" altLang="de-DE" dirty="0"/>
              <a:t> </a:t>
            </a:r>
            <a:r>
              <a:rPr lang="de-DE" altLang="de-DE" dirty="0" err="1"/>
              <a:t>effect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37898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0089-4F94-0422-284B-FA80FF61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liennummernplatzhalter 4">
            <a:extLst>
              <a:ext uri="{FF2B5EF4-FFF2-40B4-BE49-F238E27FC236}">
                <a16:creationId xmlns:a16="http://schemas.microsoft.com/office/drawing/2014/main" id="{B9DBE3BE-C309-68A1-8111-691C3A68BA40}"/>
              </a:ext>
            </a:extLst>
          </p:cNvPr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9102725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F700CBB-0C12-457E-BE67-FFEFEE99C54E}" type="slidenum">
              <a:rPr lang="de-DE" altLang="de-DE"/>
              <a:pPr/>
              <a:t>13</a:t>
            </a:fld>
            <a:endParaRPr lang="de-DE" altLang="de-DE"/>
          </a:p>
        </p:txBody>
      </p:sp>
      <p:sp>
        <p:nvSpPr>
          <p:cNvPr id="14339" name="Titel 7">
            <a:extLst>
              <a:ext uri="{FF2B5EF4-FFF2-40B4-BE49-F238E27FC236}">
                <a16:creationId xmlns:a16="http://schemas.microsoft.com/office/drawing/2014/main" id="{A81CBFE7-5AAD-0C6E-C7BA-C82DB3CF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6838"/>
            <a:ext cx="5994400" cy="477837"/>
          </a:xfrm>
        </p:spPr>
        <p:txBody>
          <a:bodyPr/>
          <a:lstStyle/>
          <a:p>
            <a:r>
              <a:rPr lang="de-DE" altLang="de-DE" dirty="0">
                <a:ea typeface="Roboto Medium" panose="02000000000000000000" pitchFamily="2" charset="0"/>
              </a:rPr>
              <a:t>Summary</a:t>
            </a:r>
          </a:p>
        </p:txBody>
      </p:sp>
      <p:sp>
        <p:nvSpPr>
          <p:cNvPr id="16" name="Inhaltsplatzhalter 6">
            <a:extLst>
              <a:ext uri="{FF2B5EF4-FFF2-40B4-BE49-F238E27FC236}">
                <a16:creationId xmlns:a16="http://schemas.microsoft.com/office/drawing/2014/main" id="{5E8F464B-4171-E145-ACC1-352329123E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2000" y="819150"/>
            <a:ext cx="7654925" cy="2789958"/>
          </a:xfrm>
          <a:ln w="9525">
            <a:prstDash val="solid"/>
          </a:ln>
          <a:extLs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Until</a:t>
            </a:r>
            <a:r>
              <a:rPr lang="de-DE" altLang="de-DE" dirty="0"/>
              <a:t> 05.04.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Install</a:t>
            </a:r>
            <a:r>
              <a:rPr lang="de-DE" altLang="de-DE" dirty="0"/>
              <a:t> </a:t>
            </a:r>
            <a:r>
              <a:rPr lang="de-DE" altLang="de-DE" dirty="0" err="1"/>
              <a:t>recent</a:t>
            </a:r>
            <a:r>
              <a:rPr lang="de-DE" altLang="de-DE" dirty="0"/>
              <a:t> Python </a:t>
            </a:r>
            <a:r>
              <a:rPr lang="de-DE" altLang="de-DE" dirty="0" err="1"/>
              <a:t>version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Install</a:t>
            </a:r>
            <a:r>
              <a:rPr lang="de-DE" altLang="de-DE" dirty="0"/>
              <a:t> </a:t>
            </a:r>
            <a:r>
              <a:rPr lang="de-DE" altLang="de-DE" dirty="0" err="1"/>
              <a:t>Jupyter</a:t>
            </a:r>
            <a:r>
              <a:rPr lang="de-DE" altLang="de-DE" dirty="0"/>
              <a:t> Notebook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(Visual Studio Code and </a:t>
            </a:r>
            <a:r>
              <a:rPr lang="de-DE" altLang="de-DE" dirty="0" err="1"/>
              <a:t>Github</a:t>
            </a:r>
            <a:r>
              <a:rPr lang="de-DE" altLang="de-DE" dirty="0"/>
              <a:t> Copilot </a:t>
            </a:r>
            <a:r>
              <a:rPr lang="de-DE" altLang="de-DE" dirty="0" err="1"/>
              <a:t>are</a:t>
            </a:r>
            <a:r>
              <a:rPr lang="de-DE" altLang="de-DE" dirty="0"/>
              <a:t> </a:t>
            </a:r>
            <a:r>
              <a:rPr lang="de-DE" altLang="de-DE" dirty="0" err="1"/>
              <a:t>optionally</a:t>
            </a:r>
            <a:r>
              <a:rPr lang="de-DE" altLang="de-DE" dirty="0"/>
              <a:t> </a:t>
            </a:r>
            <a:r>
              <a:rPr lang="de-DE" altLang="de-DE" dirty="0" err="1"/>
              <a:t>recommended</a:t>
            </a:r>
            <a:r>
              <a:rPr lang="de-DE" altLang="de-DE"/>
              <a:t>)</a:t>
            </a:r>
            <a:endParaRPr lang="de-DE" alt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de-DE" dirty="0"/>
              <a:t>After 05.04. </a:t>
            </a:r>
            <a:r>
              <a:rPr lang="de-DE" altLang="de-DE" dirty="0" err="1"/>
              <a:t>start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weekly</a:t>
            </a:r>
            <a:r>
              <a:rPr lang="de-DE" altLang="de-DE" dirty="0"/>
              <a:t> </a:t>
            </a:r>
            <a:r>
              <a:rPr lang="de-DE" altLang="de-DE" dirty="0" err="1"/>
              <a:t>schedule</a:t>
            </a:r>
            <a:r>
              <a:rPr lang="de-DE" altLang="de-DE" dirty="0"/>
              <a:t>:</a:t>
            </a:r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/>
              <a:t>Monday: </a:t>
            </a:r>
            <a:r>
              <a:rPr lang="de-DE" altLang="de-DE" dirty="0" err="1"/>
              <a:t>download</a:t>
            </a:r>
            <a:r>
              <a:rPr lang="de-DE" altLang="de-DE" dirty="0"/>
              <a:t> </a:t>
            </a:r>
            <a:r>
              <a:rPr lang="de-DE" altLang="de-DE" dirty="0" err="1"/>
              <a:t>recent</a:t>
            </a:r>
            <a:r>
              <a:rPr lang="de-DE" altLang="de-DE" dirty="0"/>
              <a:t> </a:t>
            </a:r>
            <a:r>
              <a:rPr lang="de-DE" altLang="de-DE" dirty="0" err="1"/>
              <a:t>files</a:t>
            </a:r>
            <a:endParaRPr lang="de-DE" altLang="de-DE" dirty="0"/>
          </a:p>
          <a:p>
            <a:pPr marL="642938" lvl="1" indent="-285750">
              <a:buFont typeface="Arial" panose="020B0604020202020204" pitchFamily="34" charset="0"/>
              <a:buChar char="•"/>
            </a:pPr>
            <a:r>
              <a:rPr lang="de-DE" altLang="de-DE" dirty="0" err="1"/>
              <a:t>Until</a:t>
            </a:r>
            <a:r>
              <a:rPr lang="de-DE" altLang="de-DE" dirty="0"/>
              <a:t> </a:t>
            </a:r>
            <a:r>
              <a:rPr lang="de-DE" altLang="de-DE" dirty="0" err="1"/>
              <a:t>Thursday</a:t>
            </a:r>
            <a:r>
              <a:rPr lang="de-DE" altLang="de-DE" dirty="0"/>
              <a:t>:</a:t>
            </a:r>
          </a:p>
          <a:p>
            <a:pPr marL="1000125" lvl="2" indent="-285750">
              <a:buFont typeface="Arial" panose="020B0604020202020204" pitchFamily="34" charset="0"/>
              <a:buChar char="•"/>
            </a:pPr>
            <a:r>
              <a:rPr lang="de-DE" altLang="de-DE" dirty="0"/>
              <a:t>Work </a:t>
            </a:r>
            <a:r>
              <a:rPr lang="de-DE" altLang="de-DE" dirty="0" err="1"/>
              <a:t>with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material</a:t>
            </a:r>
          </a:p>
          <a:p>
            <a:pPr marL="1000125" lvl="2" indent="-285750">
              <a:buFont typeface="Arial" panose="020B0604020202020204" pitchFamily="34" charset="0"/>
              <a:buChar char="•"/>
            </a:pPr>
            <a:r>
              <a:rPr lang="de-DE" altLang="de-DE" dirty="0"/>
              <a:t>Publish </a:t>
            </a:r>
            <a:r>
              <a:rPr lang="de-DE" altLang="de-DE" dirty="0" err="1"/>
              <a:t>two</a:t>
            </a:r>
            <a:r>
              <a:rPr lang="de-DE" altLang="de-DE" dirty="0"/>
              <a:t> </a:t>
            </a:r>
            <a:r>
              <a:rPr lang="de-DE" altLang="de-DE" dirty="0" err="1"/>
              <a:t>questions</a:t>
            </a:r>
            <a:r>
              <a:rPr lang="de-DE" altLang="de-DE" dirty="0"/>
              <a:t> in FAQ (</a:t>
            </a:r>
            <a:r>
              <a:rPr lang="de-DE" altLang="de-DE" dirty="0" err="1"/>
              <a:t>one</a:t>
            </a:r>
            <a:r>
              <a:rPr lang="de-DE" altLang="de-DE" dirty="0"/>
              <a:t> </a:t>
            </a:r>
            <a:r>
              <a:rPr lang="de-DE" altLang="de-DE" dirty="0" err="1"/>
              <a:t>regarding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Jupyter</a:t>
            </a:r>
            <a:r>
              <a:rPr lang="de-DE" altLang="de-DE" dirty="0"/>
              <a:t> Notebook, </a:t>
            </a:r>
            <a:r>
              <a:rPr lang="de-DE" altLang="de-DE" dirty="0" err="1"/>
              <a:t>one</a:t>
            </a:r>
            <a:r>
              <a:rPr lang="de-DE" altLang="de-DE" dirty="0"/>
              <a:t> </a:t>
            </a:r>
            <a:r>
              <a:rPr lang="de-DE" altLang="de-DE" dirty="0" err="1"/>
              <a:t>regarding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exam</a:t>
            </a:r>
            <a:r>
              <a:rPr lang="de-DE" altLang="de-DE" dirty="0"/>
              <a:t> </a:t>
            </a:r>
            <a:r>
              <a:rPr lang="de-DE" altLang="de-DE" dirty="0" err="1"/>
              <a:t>preparations</a:t>
            </a:r>
            <a:r>
              <a:rPr lang="de-DE" alt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287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liennummernplatzhalt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43950" y="4748213"/>
            <a:ext cx="400050" cy="169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CC936B1-AAC8-47AB-883F-F5D72DC28616}" type="slidenum">
              <a:rPr lang="de-DE" altLang="de-DE"/>
              <a:pPr/>
              <a:t>14</a:t>
            </a:fld>
            <a:endParaRPr lang="de-DE" altLang="de-DE"/>
          </a:p>
        </p:txBody>
      </p:sp>
      <p:sp>
        <p:nvSpPr>
          <p:cNvPr id="4" name="Inhaltsplatzhalter 1"/>
          <p:cNvSpPr txBox="1">
            <a:spLocks/>
          </p:cNvSpPr>
          <p:nvPr/>
        </p:nvSpPr>
        <p:spPr>
          <a:xfrm>
            <a:off x="533400" y="361950"/>
            <a:ext cx="3810000" cy="17526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</a:defRPr>
            </a:lvl1pPr>
            <a:lvl2pPr marL="357188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Inter Light" panose="02000503000000020004" pitchFamily="2" charset="0"/>
                <a:cs typeface="Inter Light" panose="02000503000000020004" pitchFamily="2" charset="0"/>
              </a:defRPr>
            </a:lvl2pPr>
            <a:lvl3pPr marL="714375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Inter Light" panose="02000503000000020004" pitchFamily="2" charset="0"/>
                <a:cs typeface="Inter Light" panose="02000503000000020004" pitchFamily="2" charset="0"/>
              </a:defRPr>
            </a:lvl3pPr>
            <a:lvl4pPr marL="107315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Inter Light" panose="02000503000000020004" pitchFamily="2" charset="0"/>
                <a:cs typeface="Inter Light" panose="02000503000000020004" pitchFamily="2" charset="0"/>
              </a:defRPr>
            </a:lvl4pPr>
            <a:lvl5pPr marL="1430338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Inter Light" panose="02000503000000020004" pitchFamily="2" charset="0"/>
                <a:cs typeface="Inter Light" panose="02000503000000020004" pitchFamily="2" charset="0"/>
              </a:defRPr>
            </a:lvl5pPr>
            <a:lvl6pPr marL="1789024">
              <a:defRPr>
                <a:latin typeface="+mn-lt"/>
                <a:ea typeface="+mn-ea"/>
                <a:cs typeface="+mn-cs"/>
              </a:defRPr>
            </a:lvl6pPr>
            <a:lvl7pPr marL="2146828">
              <a:defRPr>
                <a:latin typeface="+mn-lt"/>
                <a:ea typeface="+mn-ea"/>
                <a:cs typeface="+mn-cs"/>
              </a:defRPr>
            </a:lvl7pPr>
            <a:lvl8pPr marL="2504633">
              <a:defRPr>
                <a:latin typeface="+mn-lt"/>
                <a:ea typeface="+mn-ea"/>
                <a:cs typeface="+mn-cs"/>
              </a:defRPr>
            </a:lvl8pPr>
            <a:lvl9pPr marL="2862438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kern="0" dirty="0"/>
              <a:t>Thanks a lot for your attention...</a:t>
            </a:r>
          </a:p>
          <a:p>
            <a:endParaRPr lang="de-DE" kern="0" dirty="0"/>
          </a:p>
          <a:p>
            <a:r>
              <a:rPr lang="de-DE" sz="1400" kern="0" dirty="0"/>
              <a:t>Martin Spiertz</a:t>
            </a:r>
          </a:p>
          <a:p>
            <a:r>
              <a:rPr lang="de-DE" sz="1400" kern="0" dirty="0"/>
              <a:t>+49 9721 940 - 8770</a:t>
            </a:r>
          </a:p>
          <a:p>
            <a:r>
              <a:rPr lang="de-DE" sz="1400" kern="0" dirty="0">
                <a:hlinkClick r:id="rId2"/>
              </a:rPr>
              <a:t>martin.spiertz@thws.de</a:t>
            </a:r>
            <a:endParaRPr lang="de-DE" sz="1400" kern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F61AC4B-FB89-F07C-97F8-52583389E5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25496"/>
            <a:ext cx="1735522" cy="12116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oboto Light / Medium">
      <a:majorFont>
        <a:latin typeface="Roboto Medium"/>
        <a:ea typeface=""/>
        <a:cs typeface=""/>
      </a:majorFont>
      <a:minorFont>
        <a:latin typeface="Roboto Light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0" tIns="110489" rIns="0" bIns="0" rtlCol="0">
        <a:spAutoFit/>
      </a:bodyPr>
      <a:lstStyle>
        <a:defPPr marL="12700">
          <a:lnSpc>
            <a:spcPct val="100000"/>
          </a:lnSpc>
          <a:spcBef>
            <a:spcPts val="869"/>
          </a:spcBef>
          <a:defRPr sz="2350" b="1" spc="15" dirty="0">
            <a:solidFill>
              <a:srgbClr val="231F20"/>
            </a:solidFill>
            <a:latin typeface="Roboto"/>
            <a:cs typeface="Roboto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784</Words>
  <Application>Microsoft Office PowerPoint</Application>
  <PresentationFormat>Bildschirmpräsentation (16:9)</PresentationFormat>
  <Paragraphs>156</Paragraphs>
  <Slides>14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2" baseType="lpstr">
      <vt:lpstr>Arial</vt:lpstr>
      <vt:lpstr>Calibri</vt:lpstr>
      <vt:lpstr>Inter</vt:lpstr>
      <vt:lpstr>Inter Light</vt:lpstr>
      <vt:lpstr>Roboto</vt:lpstr>
      <vt:lpstr>Roboto Medium</vt:lpstr>
      <vt:lpstr>Wingdings</vt:lpstr>
      <vt:lpstr>Office Theme</vt:lpstr>
      <vt:lpstr>PowerPoint-Präsentation</vt:lpstr>
      <vt:lpstr>Voice Control</vt:lpstr>
      <vt:lpstr>Parallel classes</vt:lpstr>
      <vt:lpstr>Requirements</vt:lpstr>
      <vt:lpstr>Goals and motivation</vt:lpstr>
      <vt:lpstr>Tasks for German course</vt:lpstr>
      <vt:lpstr>Tasks for English course</vt:lpstr>
      <vt:lpstr>Tasks (short version)</vt:lpstr>
      <vt:lpstr>Time schedule</vt:lpstr>
      <vt:lpstr>Time schedule</vt:lpstr>
      <vt:lpstr>Support for the students</vt:lpstr>
      <vt:lpstr>Grade improvement</vt:lpstr>
      <vt:lpstr>Summary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Herzlich Willkommen an der</dc:title>
  <dc:creator>Lena</dc:creator>
  <cp:lastModifiedBy>Spiertz, Martin</cp:lastModifiedBy>
  <cp:revision>389</cp:revision>
  <dcterms:created xsi:type="dcterms:W3CDTF">2020-04-14T12:26:21Z</dcterms:created>
  <dcterms:modified xsi:type="dcterms:W3CDTF">2026-03-19T07:06:50Z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2020-04-14T00:00:00Z</vt:filetime>
  </property>
  <property fmtid="{D5CDD505-2E9C-101B-9397-08002B2CF9AE}" pid="3" name="Creator">
    <vt:lpwstr>Adobe InDesign 15.0 (Windows)</vt:lpwstr>
  </property>
  <property fmtid="{D5CDD505-2E9C-101B-9397-08002B2CF9AE}" pid="4" name="LastSaved">
    <vt:filetime>2020-04-14T00:00:00Z</vt:filetime>
  </property>
</Properties>
</file>